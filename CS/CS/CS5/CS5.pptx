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4" r:id="rId3"/>
    <p:sldId id="265" r:id="rId4"/>
    <p:sldId id="266" r:id="rId5"/>
    <p:sldId id="269" r:id="rId6"/>
    <p:sldId id="274" r:id="rId7"/>
    <p:sldId id="267" r:id="rId8"/>
    <p:sldId id="272" r:id="rId9"/>
    <p:sldId id="257" r:id="rId10"/>
    <p:sldId id="273" r:id="rId11"/>
    <p:sldId id="270" r:id="rId12"/>
    <p:sldId id="275" r:id="rId13"/>
    <p:sldId id="276" r:id="rId14"/>
    <p:sldId id="277" r:id="rId15"/>
    <p:sldId id="285" r:id="rId16"/>
    <p:sldId id="262" r:id="rId17"/>
    <p:sldId id="258" r:id="rId18"/>
    <p:sldId id="279" r:id="rId19"/>
    <p:sldId id="284" r:id="rId20"/>
    <p:sldId id="278" r:id="rId21"/>
    <p:sldId id="283" r:id="rId22"/>
    <p:sldId id="280" r:id="rId23"/>
    <p:sldId id="282" r:id="rId24"/>
    <p:sldId id="281" r:id="rId25"/>
    <p:sldId id="260" r:id="rId26"/>
    <p:sldId id="286" r:id="rId27"/>
    <p:sldId id="261" r:id="rId28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000000"/>
    <a:srgbClr val="993333"/>
    <a:srgbClr val="A3A9AF"/>
    <a:srgbClr val="6A747E"/>
    <a:srgbClr val="293C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18" autoAdjust="0"/>
  </p:normalViewPr>
  <p:slideViewPr>
    <p:cSldViewPr>
      <p:cViewPr varScale="1">
        <p:scale>
          <a:sx n="90" d="100"/>
          <a:sy n="90" d="100"/>
        </p:scale>
        <p:origin x="14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278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76078-DA71-4B42-AA3F-192EC9D12EBC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E8920-0DF5-4D15-93B6-42E2A4B9FF5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869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62553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Language for each generation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is a language feature tailored for the current generation of programs.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Distributed ones. Devices and servers. Communication. Latency.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It’s a new control flow primitive. Like GOTO became GOSUB became function calls.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5371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The Evolution Of C#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C# 1.0 – managed code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C# 2.0 – Generics – anonymous methods, iterators, method variance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C# 3.0 – LINQ – extension methods, anonymous types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C# 4.0 – dynamic programming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C# 5.0 – asynchronous programming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4375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Oh. That’s not meant to happen.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Leslie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Lamport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, one of the godfathers of computer science, said “A distributed system is one in which the failure of a computer you didn't even know existed can render your own computer unusable”.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That’s the messy truth about our generation of programs.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Okay, it looks like we’re okay.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0437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Introducing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: file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You need to understand the message-loop.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It’s a single thread – the UI thread - in an infinite loop, waiting for messages, and handling them.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When button-click arrives, this thread calls into 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Button_Click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handler.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Oh, I’m giving this talk all in VB, but the feature’s exactly the same in C#.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In this case reading configuration from a text file, and returning.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Then it gets back to the message-loop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and can handle further messages, further UI events.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2998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Introducing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: network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But remember we’re in the distributed generation. Maybe instead of loading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config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off disk, it gets it off the cloud.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What happens then?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Well, it takes time. And in the meantime, the UI thread can’t handle any other clicks or events or messages.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That’s not a bug. It’s not something we can fix. It’s reality. It’s the speed of light!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(Light might seem fast. But when you add the roundtrips it has to make across 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atlantic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, and internet backbone router congestion, and TCP algorithm timeouts, well, the milliseconds add up).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Eventually it’ll finish and get to the events. But your application looks poor, especially to mass-market audiences who aren’t used to the spinning toilet bowl of death.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0921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DEMO 1: Add Keywords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in VS11, opening the existing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AsyncVB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project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(in its initial state)</a:t>
            </a:r>
          </a:p>
          <a:p>
            <a:pPr marL="171450" indent="-171450">
              <a:buFont typeface="Arial" charset="0"/>
              <a:buChar char="•"/>
            </a:pPr>
            <a:endParaRPr lang="en-US" sz="1200" kern="1200" baseline="0" dirty="0" smtClean="0">
              <a:solidFill>
                <a:schemeClr val="tx1"/>
              </a:solidFill>
              <a:effectLst/>
              <a:latin typeface="Segoe UI" pitchFamily="34" charset="0"/>
              <a:ea typeface="+mn-ea"/>
              <a:cs typeface="+mn-cs"/>
            </a:endParaRP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DEMO 1: KEYWORDS</a:t>
            </a: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1. Run it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Observe the frozen behavior. Try to e.g. grab it down.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Win8 doesn’t even bother with the spinning toilet bowl because it assumes you know better.</a:t>
            </a: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2. Add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and Await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IO.Network.DownloadAsync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("http://www.wischik.com/lu/postcards.xml")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Ctrl+Dot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to make method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endParaRPr lang="en-US" sz="1200" kern="1200" dirty="0" smtClean="0">
              <a:solidFill>
                <a:schemeClr val="tx1"/>
              </a:solidFill>
              <a:effectLst/>
              <a:latin typeface="Segoe UI" pitchFamily="34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Rename it to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LoadSettingsAsync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  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Function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LoadSettingsAsync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() As Task</a:t>
            </a: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3. Change Button1_Click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   Await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LoadSettingsAsync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()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Ctrl+Dot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to make method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   Private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Sub Button1_Click(sender As Object, e As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RoutedEventArgs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) Handles Button1.Click</a:t>
            </a: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4. Run it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Observe that the button clicks immediately. It still takes time of course due to the speed of light. But everything’s responsive.</a:t>
            </a:r>
          </a:p>
          <a:p>
            <a:pPr marL="171450" indent="-171450">
              <a:buFont typeface="Arial" charset="0"/>
              <a:buChar char="•"/>
            </a:pPr>
            <a:endParaRPr lang="en-US" sz="1200" kern="1200" dirty="0" smtClean="0">
              <a:solidFill>
                <a:schemeClr val="tx1"/>
              </a:solidFill>
              <a:effectLst/>
              <a:latin typeface="Segoe UI" pitchFamily="34" charset="0"/>
              <a:ea typeface="+mn-ea"/>
              <a:cs typeface="+mn-cs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57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Introducing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: recap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Recap what we just did.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Changed it from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DownloadRemoteData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to “await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DownloadRemoteDataAsync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”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Change the method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prototype: mark it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, change its name, make it return Task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In the caller, changed it from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LoadImage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to “Await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LoadImageAsync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”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Changed the function prototype: marked it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endParaRPr lang="en-US" sz="1200" kern="1200" dirty="0" smtClean="0">
              <a:solidFill>
                <a:schemeClr val="tx1"/>
              </a:solidFill>
              <a:effectLst/>
              <a:latin typeface="Segoe UI" pitchFamily="34" charset="0"/>
              <a:ea typeface="+mn-ea"/>
              <a:cs typeface="+mn-cs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76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Introducing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: recap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[CLICK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CLICK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CLICK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– speaker is on his/her own at this point! Too complicated to explain in the notes]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By now we have a rough idea of the message-loop. And the fact that continuing after an await all happens via the message loop.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Now let’s see the implications of that.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6190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image =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this.LoadImageAsync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Properties.Settings.Default.ImageUrl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).Result;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5126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1. Invoke it from Main, and manually add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Async</a:t>
            </a:r>
            <a:endParaRPr lang="en-US" sz="1200" b="1" kern="1200" dirty="0" smtClean="0">
              <a:solidFill>
                <a:schemeClr val="tx1"/>
              </a:solidFill>
              <a:effectLst/>
              <a:latin typeface="Segoe UI" pitchFamily="34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static void Main(string[]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HelloAsync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().Wait();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</a:t>
            </a: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2. Error: can’t do that. So Wait().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static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void Main(string[]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await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HelloAsync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Observe: it works fine!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* Why? Console apps don't run on a UI message-loop. They run on the thread pool. That has as many message-loops as it wants. It says “hey, that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thar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Segoe UI" pitchFamily="34" charset="0"/>
                <a:ea typeface="+mn-ea"/>
                <a:cs typeface="+mn-cs"/>
              </a:rPr>
              <a:t> thread over there is blocked, so I’ll just spin up another one.”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8996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System;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Microsoft.VisualStudio.TestTools.UnitTesting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System.Threading.Tasks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UnitTests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TestClass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public class UnitTest1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[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TestMethod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void TestMethod1()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await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Task.Delay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(1000);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Assert.Fail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6863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 smtClean="0"/>
              <a:t>Corrected</a:t>
            </a:r>
            <a:r>
              <a:rPr lang="pt-PT" dirty="0" smtClean="0"/>
              <a:t> </a:t>
            </a:r>
            <a:r>
              <a:rPr lang="pt-PT" dirty="0" err="1" smtClean="0"/>
              <a:t>compiler</a:t>
            </a:r>
            <a:r>
              <a:rPr lang="pt-PT" dirty="0" smtClean="0"/>
              <a:t> bugs</a:t>
            </a:r>
          </a:p>
          <a:p>
            <a:r>
              <a:rPr lang="pt-PT" dirty="0" err="1" smtClean="0"/>
              <a:t>Changes</a:t>
            </a:r>
            <a:r>
              <a:rPr lang="pt-PT" dirty="0" smtClean="0"/>
              <a:t> to </a:t>
            </a:r>
            <a:r>
              <a:rPr lang="pt-PT" dirty="0" err="1" smtClean="0"/>
              <a:t>prevent</a:t>
            </a:r>
            <a:r>
              <a:rPr lang="pt-PT" dirty="0" smtClean="0"/>
              <a:t> </a:t>
            </a:r>
            <a:r>
              <a:rPr lang="pt-PT" dirty="0" err="1" smtClean="0"/>
              <a:t>expected</a:t>
            </a:r>
            <a:r>
              <a:rPr lang="pt-PT" dirty="0" smtClean="0"/>
              <a:t> bugs </a:t>
            </a:r>
            <a:r>
              <a:rPr lang="pt-PT" dirty="0" err="1" smtClean="0"/>
              <a:t>with</a:t>
            </a:r>
            <a:r>
              <a:rPr lang="pt-PT" dirty="0" smtClean="0"/>
              <a:t> </a:t>
            </a:r>
            <a:r>
              <a:rPr lang="pt-PT" b="1" dirty="0" err="1" smtClean="0"/>
              <a:t>async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E8920-0DF5-4D15-93B6-42E2A4B9FF58}" type="slidenum">
              <a:rPr lang="pt-PT" smtClean="0"/>
              <a:t>20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0614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o de título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1840" y="3429000"/>
            <a:ext cx="5976664" cy="2808312"/>
          </a:xfrm>
          <a:prstGeom prst="rect">
            <a:avLst/>
          </a:prstGeom>
        </p:spPr>
        <p:txBody>
          <a:bodyPr anchor="ctr" anchorCtr="0"/>
          <a:lstStyle>
            <a:lvl1pPr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pt-PT" dirty="0" smtClean="0"/>
              <a:t>Adicionar Título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22313" y="980728"/>
            <a:ext cx="7772400" cy="2520280"/>
          </a:xfrm>
          <a:prstGeom prst="rect">
            <a:avLst/>
          </a:prstGeom>
        </p:spPr>
        <p:txBody>
          <a:bodyPr anchor="ctr"/>
          <a:lstStyle>
            <a:lvl1pPr algn="l">
              <a:defRPr sz="3600" b="1" cap="none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pt-PT" dirty="0" smtClean="0"/>
              <a:t>Título do Capítulo/Secção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722313" y="3645024"/>
            <a:ext cx="7772400" cy="2376264"/>
          </a:xfrm>
          <a:prstGeom prst="rect">
            <a:avLst/>
          </a:prstGeom>
        </p:spPr>
        <p:txBody>
          <a:bodyPr anchor="t"/>
          <a:lstStyle>
            <a:lvl1pPr marL="342900" indent="-342900">
              <a:buFont typeface="Arial" pitchFamily="34" charset="0"/>
              <a:buChar char="•"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dirty="0" smtClean="0"/>
              <a:t>Sumário do Capítulo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 com nívei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131840" y="0"/>
            <a:ext cx="6012160" cy="9087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1" cap="small" baseline="0">
                <a:solidFill>
                  <a:schemeClr val="accent5">
                    <a:lumMod val="75000"/>
                  </a:schemeClr>
                </a:solidFill>
                <a:effectLst/>
              </a:defRPr>
            </a:lvl1pPr>
          </a:lstStyle>
          <a:p>
            <a:r>
              <a:rPr lang="pt-PT" dirty="0" smtClean="0"/>
              <a:t>Adicionar Título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 hasCustomPrompt="1"/>
          </p:nvPr>
        </p:nvSpPr>
        <p:spPr>
          <a:xfrm>
            <a:off x="179512" y="1196752"/>
            <a:ext cx="8784976" cy="50405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PT" dirty="0" smtClean="0"/>
              <a:t>Adicionar conteúdo por níveis</a:t>
            </a:r>
          </a:p>
          <a:p>
            <a:pPr lvl="1"/>
            <a:r>
              <a:rPr lang="pt-PT" dirty="0" smtClean="0"/>
              <a:t>Segundo nível</a:t>
            </a:r>
          </a:p>
          <a:p>
            <a:pPr lvl="2"/>
            <a:r>
              <a:rPr lang="pt-PT" dirty="0" smtClean="0"/>
              <a:t>Terceiro nível</a:t>
            </a:r>
          </a:p>
          <a:p>
            <a:pPr lvl="3"/>
            <a:r>
              <a:rPr lang="pt-PT" dirty="0" smtClean="0"/>
              <a:t>Quarto nível</a:t>
            </a:r>
          </a:p>
          <a:p>
            <a:pPr lvl="4"/>
            <a:r>
              <a:rPr lang="pt-PT" dirty="0" smtClean="0"/>
              <a:t>Quinto nível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>
          <a:xfrm>
            <a:off x="158824" y="6453336"/>
            <a:ext cx="2133600" cy="365125"/>
          </a:xfrm>
        </p:spPr>
        <p:txBody>
          <a:bodyPr/>
          <a:lstStyle/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>
          <a:xfrm>
            <a:off x="2825824" y="6453336"/>
            <a:ext cx="2895600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xfrm>
            <a:off x="6254824" y="6453336"/>
            <a:ext cx="1629544" cy="365125"/>
          </a:xfrm>
        </p:spPr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 sem nívei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131840" y="0"/>
            <a:ext cx="6012160" cy="9087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1" cap="small" baseline="0">
                <a:solidFill>
                  <a:schemeClr val="accent5">
                    <a:lumMod val="75000"/>
                  </a:schemeClr>
                </a:solidFill>
                <a:effectLst/>
              </a:defRPr>
            </a:lvl1pPr>
          </a:lstStyle>
          <a:p>
            <a:r>
              <a:rPr lang="pt-PT" dirty="0" smtClean="0"/>
              <a:t>Adicionar Título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 hasCustomPrompt="1"/>
          </p:nvPr>
        </p:nvSpPr>
        <p:spPr>
          <a:xfrm>
            <a:off x="179512" y="1196752"/>
            <a:ext cx="8784976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pt-PT" dirty="0" smtClean="0"/>
              <a:t>Adicionar conteúdo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>
          <a:xfrm>
            <a:off x="158824" y="6453336"/>
            <a:ext cx="2133600" cy="365125"/>
          </a:xfrm>
        </p:spPr>
        <p:txBody>
          <a:bodyPr/>
          <a:lstStyle/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>
          <a:xfrm>
            <a:off x="2825824" y="6453336"/>
            <a:ext cx="2895600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xfrm>
            <a:off x="6254824" y="6453336"/>
            <a:ext cx="1629544" cy="365125"/>
          </a:xfrm>
        </p:spPr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08782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179512" y="1196752"/>
            <a:ext cx="4032448" cy="492941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 smtClean="0"/>
              <a:t>Clique para editar os estilos</a:t>
            </a:r>
          </a:p>
          <a:p>
            <a:pPr lvl="1"/>
            <a:r>
              <a:rPr lang="pt-PT" dirty="0" smtClean="0"/>
              <a:t>Segundo nível</a:t>
            </a:r>
          </a:p>
          <a:p>
            <a:pPr lvl="2"/>
            <a:r>
              <a:rPr lang="pt-PT" dirty="0" smtClean="0"/>
              <a:t>Terceiro nível</a:t>
            </a:r>
          </a:p>
          <a:p>
            <a:pPr lvl="3"/>
            <a:r>
              <a:rPr lang="pt-PT" dirty="0" smtClean="0"/>
              <a:t>Quarto nível</a:t>
            </a:r>
          </a:p>
          <a:p>
            <a:pPr lvl="4"/>
            <a:r>
              <a:rPr lang="pt-PT" dirty="0" smtClean="0"/>
              <a:t>Quinto nível</a:t>
            </a:r>
            <a:endParaRPr lang="pt-PT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427984" y="1196752"/>
            <a:ext cx="4536504" cy="492941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3131840" y="0"/>
            <a:ext cx="6012160" cy="9087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1" cap="small" baseline="0">
                <a:solidFill>
                  <a:schemeClr val="accent5">
                    <a:lumMod val="75000"/>
                  </a:schemeClr>
                </a:solidFill>
                <a:effectLst/>
              </a:defRPr>
            </a:lvl1pPr>
          </a:lstStyle>
          <a:p>
            <a:r>
              <a:rPr lang="pt-PT" dirty="0" smtClean="0"/>
              <a:t>Clique para editar o estilo</a:t>
            </a:r>
            <a:endParaRPr lang="pt-P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  <p:sp>
        <p:nvSpPr>
          <p:cNvPr id="6" name="Título 1"/>
          <p:cNvSpPr>
            <a:spLocks noGrp="1"/>
          </p:cNvSpPr>
          <p:nvPr>
            <p:ph type="title" hasCustomPrompt="1"/>
          </p:nvPr>
        </p:nvSpPr>
        <p:spPr>
          <a:xfrm>
            <a:off x="3131840" y="0"/>
            <a:ext cx="6012160" cy="9087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1" cap="small" baseline="0">
                <a:solidFill>
                  <a:schemeClr val="accent5">
                    <a:lumMod val="75000"/>
                  </a:schemeClr>
                </a:solidFill>
                <a:effectLst/>
              </a:defRPr>
            </a:lvl1pPr>
          </a:lstStyle>
          <a:p>
            <a:r>
              <a:rPr lang="pt-PT" dirty="0" smtClean="0"/>
              <a:t>Adicionar Título</a:t>
            </a:r>
            <a:endParaRPr lang="pt-PT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79513" y="1196752"/>
            <a:ext cx="2808312" cy="50405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dirty="0" smtClean="0"/>
              <a:t>Adicionar Tópicos ou Sumário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3131840" y="0"/>
            <a:ext cx="6012160" cy="9087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1" cap="small" baseline="0">
                <a:solidFill>
                  <a:schemeClr val="accent5">
                    <a:lumMod val="75000"/>
                  </a:schemeClr>
                </a:solidFill>
                <a:effectLst/>
              </a:defRPr>
            </a:lvl1pPr>
          </a:lstStyle>
          <a:p>
            <a:r>
              <a:rPr lang="pt-PT" dirty="0" smtClean="0"/>
              <a:t>Adicionar Título</a:t>
            </a:r>
            <a:endParaRPr lang="pt-PT" dirty="0"/>
          </a:p>
        </p:txBody>
      </p:sp>
      <p:sp>
        <p:nvSpPr>
          <p:cNvPr id="9" name="Marcador de Posição de Conteúdo 2"/>
          <p:cNvSpPr>
            <a:spLocks noGrp="1"/>
          </p:cNvSpPr>
          <p:nvPr>
            <p:ph idx="1" hasCustomPrompt="1"/>
          </p:nvPr>
        </p:nvSpPr>
        <p:spPr>
          <a:xfrm>
            <a:off x="3275856" y="1196752"/>
            <a:ext cx="5688632" cy="50405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PT" dirty="0" smtClean="0"/>
              <a:t>Adicionar conteúdo por níveis</a:t>
            </a:r>
          </a:p>
          <a:p>
            <a:pPr lvl="1"/>
            <a:r>
              <a:rPr lang="pt-PT" dirty="0" smtClean="0"/>
              <a:t>Segundo nível</a:t>
            </a:r>
          </a:p>
          <a:p>
            <a:pPr lvl="2"/>
            <a:r>
              <a:rPr lang="pt-PT" dirty="0" smtClean="0"/>
              <a:t>Terceiro nível</a:t>
            </a:r>
          </a:p>
          <a:p>
            <a:pPr lvl="3"/>
            <a:r>
              <a:rPr lang="pt-PT" dirty="0" smtClean="0"/>
              <a:t>Quarto nível</a:t>
            </a:r>
          </a:p>
          <a:p>
            <a:pPr lvl="4"/>
            <a:r>
              <a:rPr lang="pt-PT" dirty="0" smtClean="0"/>
              <a:t>Quinto nível</a:t>
            </a:r>
            <a:endParaRPr lang="pt-PT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 Invert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9446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os com barra de parceir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89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0875-E729-438F-AD64-DA10B3256A5A}" type="datetimeFigureOut">
              <a:rPr lang="pt-PT" smtClean="0"/>
              <a:t>03/10/2012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71" r:id="rId4"/>
    <p:sldLayoutId id="2147483652" r:id="rId5"/>
    <p:sldLayoutId id="2147483654" r:id="rId6"/>
    <p:sldLayoutId id="2147483656" r:id="rId7"/>
    <p:sldLayoutId id="2147483655" r:id="rId8"/>
    <p:sldLayoutId id="2147483660" r:id="rId9"/>
    <p:sldLayoutId id="2147483661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netponto.org/" TargetMode="External"/><Relationship Id="rId13" Type="http://schemas.openxmlformats.org/officeDocument/2006/relationships/hyperlink" Target="http://www.codeproject.com/Members/PauloMorgado" TargetMode="External"/><Relationship Id="rId18" Type="http://schemas.openxmlformats.org/officeDocument/2006/relationships/image" Target="../media/image13.png"/><Relationship Id="rId3" Type="http://schemas.openxmlformats.org/officeDocument/2006/relationships/image" Target="../media/image7.png"/><Relationship Id="rId21" Type="http://schemas.openxmlformats.org/officeDocument/2006/relationships/hyperlink" Target="http://bit.ly/Livro-LINQ-Com-Charp" TargetMode="External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17" Type="http://schemas.openxmlformats.org/officeDocument/2006/relationships/hyperlink" Target="http://social.msdn.microsoft.com/profile/paulo%20morgado/" TargetMode="External"/><Relationship Id="rId2" Type="http://schemas.openxmlformats.org/officeDocument/2006/relationships/hyperlink" Target="http://paulomorgado.net/" TargetMode="External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mvp.support.microsoft.com/profile/Paulo.Morgado" TargetMode="External"/><Relationship Id="rId11" Type="http://schemas.openxmlformats.org/officeDocument/2006/relationships/hyperlink" Target="http://pontonetpt.org/blogs/paulomorgado/" TargetMode="External"/><Relationship Id="rId5" Type="http://schemas.openxmlformats.org/officeDocument/2006/relationships/hyperlink" Target="http://www.revista-programar.info/?action=members&amp;type=viewMember&amp;n=98" TargetMode="External"/><Relationship Id="rId15" Type="http://schemas.openxmlformats.org/officeDocument/2006/relationships/hyperlink" Target="http://msmvps.com/blogs/paulomorgado/" TargetMode="External"/><Relationship Id="rId10" Type="http://schemas.openxmlformats.org/officeDocument/2006/relationships/image" Target="../media/image9.gif"/><Relationship Id="rId19" Type="http://schemas.openxmlformats.org/officeDocument/2006/relationships/hyperlink" Target="http://weblogs.asp.net/paulomorgado/" TargetMode="External"/><Relationship Id="rId4" Type="http://schemas.openxmlformats.org/officeDocument/2006/relationships/hyperlink" Target="http://www.codeplex.com/site/users/show/PauloMorgado" TargetMode="External"/><Relationship Id="rId9" Type="http://schemas.openxmlformats.org/officeDocument/2006/relationships/hyperlink" Target="http://www.netponto.org/" TargetMode="External"/><Relationship Id="rId14" Type="http://schemas.openxmlformats.org/officeDocument/2006/relationships/image" Target="../media/image11.png"/><Relationship Id="rId22" Type="http://schemas.openxmlformats.org/officeDocument/2006/relationships/image" Target="../media/image15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library/system.runtime.compilerservices.callerlinenumberattribute.aspx" TargetMode="External"/><Relationship Id="rId2" Type="http://schemas.openxmlformats.org/officeDocument/2006/relationships/hyperlink" Target="http://msdn.microsoft.com/en-us/library/system.runtime.compilerservices.callerfilepathattribute.aspx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msdn.microsoft.com/library/system.runtime.compilerservices.callermembernameattribute.aspx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library/hh678682(v=vs.110).aspx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library/hh678682(v=vs.110).aspx" TargetMode="External"/><Relationship Id="rId2" Type="http://schemas.openxmlformats.org/officeDocument/2006/relationships/hyperlink" Target="http://msdn.microsoft.com/library/618ayhy6.aspx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msdn.microsoft.com/library/hh191443.aspx" TargetMode="External"/><Relationship Id="rId5" Type="http://schemas.openxmlformats.org/officeDocument/2006/relationships/hyperlink" Target="http://msdn.microsoft.com/library/vstudio/dd460717.aspx" TargetMode="External"/><Relationship Id="rId4" Type="http://schemas.openxmlformats.org/officeDocument/2006/relationships/hyperlink" Target="http://msdn.microsoft.com/library/vstudio/w0x726c2(v=vs.110).aspx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vstudio/jj573641.aspx" TargetMode="External"/><Relationship Id="rId7" Type="http://schemas.openxmlformats.org/officeDocument/2006/relationships/hyperlink" Target="http://blogs.msdn.com/b/pfxteam/archive/tags/async/" TargetMode="External"/><Relationship Id="rId2" Type="http://schemas.openxmlformats.org/officeDocument/2006/relationships/hyperlink" Target="http://blogs.msdn.com/b/pfxteam/archive/2011/10/24/10229468.aspx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logs.msdn.com/b/lucian/archive/tags/async/" TargetMode="External"/><Relationship Id="rId5" Type="http://schemas.openxmlformats.org/officeDocument/2006/relationships/hyperlink" Target="http://blogs.msdn.com/b/ericlippert/" TargetMode="External"/><Relationship Id="rId4" Type="http://schemas.openxmlformats.org/officeDocument/2006/relationships/hyperlink" Target="http://msmvps.com/blogs/jon_skeet/archive/tags/Eduasync/default.aspx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://code.msdn.microsoft.com/site/search?f%5b0%5d.Type=User&amp;f%5b0%5d.Value=Paulo%20Morgado" TargetMode="External"/><Relationship Id="rId3" Type="http://schemas.openxmlformats.org/officeDocument/2006/relationships/hyperlink" Target="http://mvp.support.microsoft.com/profile/Paulo.Morgado" TargetMode="External"/><Relationship Id="rId7" Type="http://schemas.openxmlformats.org/officeDocument/2006/relationships/hyperlink" Target="http://www.codeproject.com/Members/PauloMorgado" TargetMode="External"/><Relationship Id="rId2" Type="http://schemas.openxmlformats.org/officeDocument/2006/relationships/hyperlink" Target="http://paulomorgado.net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pontonetpt.org/blogs/paulomorgado/" TargetMode="External"/><Relationship Id="rId5" Type="http://schemas.openxmlformats.org/officeDocument/2006/relationships/hyperlink" Target="http://weblogs.asp.net/paulomorgado/" TargetMode="External"/><Relationship Id="rId4" Type="http://schemas.openxmlformats.org/officeDocument/2006/relationships/hyperlink" Target="http://msmvps.com/blogs/paulomorgado/" TargetMode="External"/><Relationship Id="rId9" Type="http://schemas.openxmlformats.org/officeDocument/2006/relationships/hyperlink" Target="http://www.codeplex.com/UserAccount/UserProfile.aspx?UserName=PauloMorgado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What’s New In C# 5.0?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5015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2" tooltip="http://paulomorgado.net/"/>
          </p:cNvPr>
          <p:cNvSpPr/>
          <p:nvPr/>
        </p:nvSpPr>
        <p:spPr>
          <a:xfrm>
            <a:off x="179512" y="1189854"/>
            <a:ext cx="2520000" cy="25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Who</a:t>
            </a:r>
            <a:r>
              <a:rPr lang="pt-PT" dirty="0" smtClean="0"/>
              <a:t> </a:t>
            </a:r>
            <a:r>
              <a:rPr lang="pt-PT" dirty="0" err="1" smtClean="0"/>
              <a:t>Am</a:t>
            </a:r>
            <a:r>
              <a:rPr lang="pt-PT" dirty="0" smtClean="0"/>
              <a:t> I?</a:t>
            </a:r>
            <a:endParaRPr lang="pt-PT" dirty="0"/>
          </a:p>
        </p:txBody>
      </p:sp>
      <p:pic>
        <p:nvPicPr>
          <p:cNvPr id="14" name="Content Placeholder 13">
            <a:hlinkClick r:id="rId2" tooltip="http://paulomorgado.net/"/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65" y="1187463"/>
            <a:ext cx="2075294" cy="2520000"/>
          </a:xfrm>
        </p:spPr>
      </p:pic>
      <p:sp>
        <p:nvSpPr>
          <p:cNvPr id="16" name="TextBox 15">
            <a:hlinkClick r:id="rId2" tooltip="http://paulomorgado.net/"/>
          </p:cNvPr>
          <p:cNvSpPr txBox="1"/>
          <p:nvPr/>
        </p:nvSpPr>
        <p:spPr>
          <a:xfrm>
            <a:off x="2772000" y="1191600"/>
            <a:ext cx="6192000" cy="2520000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ctr" anchorCtr="1">
            <a:spAutoFit/>
          </a:bodyPr>
          <a:lstStyle/>
          <a:p>
            <a:r>
              <a:rPr lang="pt-PT" sz="6600" dirty="0" smtClean="0">
                <a:solidFill>
                  <a:schemeClr val="bg1"/>
                </a:solidFill>
              </a:rPr>
              <a:t>Paulo Morgado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hlinkClick r:id="rId4" tooltip="CodePlex Profile"/>
          </p:cNvPr>
          <p:cNvSpPr/>
          <p:nvPr/>
        </p:nvSpPr>
        <p:spPr>
          <a:xfrm>
            <a:off x="3722400" y="3783600"/>
            <a:ext cx="1699200" cy="1224000"/>
          </a:xfrm>
          <a:prstGeom prst="rect">
            <a:avLst/>
          </a:prstGeom>
          <a:solidFill>
            <a:schemeClr val="bg1"/>
          </a:solidFill>
          <a:ln>
            <a:solidFill>
              <a:srgbClr val="A3A9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dirty="0" err="1" smtClean="0">
                <a:solidFill>
                  <a:srgbClr val="6A747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Code</a:t>
            </a:r>
            <a:r>
              <a:rPr lang="pt-PT" sz="2800" b="1" dirty="0" err="1" smtClean="0">
                <a:solidFill>
                  <a:srgbClr val="6A747E"/>
                </a:solidFill>
              </a:rPr>
              <a:t>Plex</a:t>
            </a:r>
            <a:endParaRPr lang="en-US" sz="2800" b="1" dirty="0">
              <a:solidFill>
                <a:srgbClr val="6A747E"/>
              </a:solidFill>
            </a:endParaRPr>
          </a:p>
        </p:txBody>
      </p:sp>
      <p:sp>
        <p:nvSpPr>
          <p:cNvPr id="26" name="Rectangle 25">
            <a:hlinkClick r:id="rId5" tooltip="Revista Programar"/>
          </p:cNvPr>
          <p:cNvSpPr/>
          <p:nvPr/>
        </p:nvSpPr>
        <p:spPr>
          <a:xfrm>
            <a:off x="7264800" y="5079600"/>
            <a:ext cx="1699200" cy="122400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Revista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PROGRAMAR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180000" y="3783600"/>
            <a:ext cx="1699200" cy="1224000"/>
            <a:chOff x="180000" y="3783600"/>
            <a:chExt cx="1699200" cy="1224000"/>
          </a:xfrm>
        </p:grpSpPr>
        <p:sp>
          <p:nvSpPr>
            <p:cNvPr id="6" name="Rectangle 5">
              <a:hlinkClick r:id="rId6" tooltip="MVP Profile"/>
            </p:cNvPr>
            <p:cNvSpPr/>
            <p:nvPr/>
          </p:nvSpPr>
          <p:spPr>
            <a:xfrm>
              <a:off x="180000" y="3783600"/>
              <a:ext cx="1699200" cy="122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hlinkClick r:id="rId6" tooltip="MVP Profile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962" y="3863698"/>
              <a:ext cx="1057275" cy="1057275"/>
            </a:xfrm>
            <a:prstGeom prst="rect">
              <a:avLst/>
            </a:prstGeom>
          </p:spPr>
        </p:pic>
      </p:grpSp>
      <p:grpSp>
        <p:nvGrpSpPr>
          <p:cNvPr id="36" name="Group 35"/>
          <p:cNvGrpSpPr/>
          <p:nvPr/>
        </p:nvGrpSpPr>
        <p:grpSpPr>
          <a:xfrm>
            <a:off x="5493600" y="5079600"/>
            <a:ext cx="1699200" cy="1224000"/>
            <a:chOff x="3722400" y="3783600"/>
            <a:chExt cx="1699200" cy="1224000"/>
          </a:xfrm>
        </p:grpSpPr>
        <p:sp>
          <p:nvSpPr>
            <p:cNvPr id="19" name="Rectangle 18">
              <a:hlinkClick r:id="rId8" tooltip="netponto"/>
            </p:cNvPr>
            <p:cNvSpPr/>
            <p:nvPr/>
          </p:nvSpPr>
          <p:spPr>
            <a:xfrm>
              <a:off x="3722400" y="3783600"/>
              <a:ext cx="1699200" cy="122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14" descr="F:\TechDays2010\Session\netponto.gif">
              <a:hlinkClick r:id="rId9" tooltip="netponto"/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6187" y="4094426"/>
              <a:ext cx="1571625" cy="61912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/>
          <p:cNvGrpSpPr/>
          <p:nvPr/>
        </p:nvGrpSpPr>
        <p:grpSpPr>
          <a:xfrm>
            <a:off x="180000" y="5079598"/>
            <a:ext cx="1699200" cy="1224000"/>
            <a:chOff x="1951200" y="3783600"/>
            <a:chExt cx="1699200" cy="1224000"/>
          </a:xfrm>
        </p:grpSpPr>
        <p:sp>
          <p:nvSpPr>
            <p:cNvPr id="18" name="Rectangle 17">
              <a:hlinkClick r:id="rId11" tooltip="Blog pontoNETpt"/>
            </p:cNvPr>
            <p:cNvSpPr/>
            <p:nvPr/>
          </p:nvSpPr>
          <p:spPr>
            <a:xfrm>
              <a:off x="1951200" y="3783600"/>
              <a:ext cx="1699200" cy="122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hlinkClick r:id="rId11" tooltip="Blog pontoNETpt"/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2000" y="4023792"/>
              <a:ext cx="1440000" cy="760391"/>
            </a:xfrm>
            <a:prstGeom prst="rect">
              <a:avLst/>
            </a:prstGeom>
          </p:spPr>
        </p:pic>
      </p:grpSp>
      <p:grpSp>
        <p:nvGrpSpPr>
          <p:cNvPr id="38" name="Group 37"/>
          <p:cNvGrpSpPr/>
          <p:nvPr/>
        </p:nvGrpSpPr>
        <p:grpSpPr>
          <a:xfrm>
            <a:off x="5493600" y="3783600"/>
            <a:ext cx="1699200" cy="1224000"/>
            <a:chOff x="5493600" y="3783600"/>
            <a:chExt cx="1699200" cy="1224000"/>
          </a:xfrm>
        </p:grpSpPr>
        <p:sp>
          <p:nvSpPr>
            <p:cNvPr id="20" name="Rectangle 19">
              <a:hlinkClick r:id="rId13" tooltip="CodeProject Profile"/>
            </p:cNvPr>
            <p:cNvSpPr/>
            <p:nvPr/>
          </p:nvSpPr>
          <p:spPr>
            <a:xfrm>
              <a:off x="5493600" y="3783600"/>
              <a:ext cx="1699200" cy="12240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hlinkClick r:id="rId13" tooltip="CodeProject Profile"/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493600" y="3945203"/>
              <a:ext cx="1699200" cy="917568"/>
            </a:xfrm>
            <a:prstGeom prst="rect">
              <a:avLst/>
            </a:prstGeom>
          </p:spPr>
        </p:pic>
      </p:grpSp>
      <p:grpSp>
        <p:nvGrpSpPr>
          <p:cNvPr id="44" name="Group 43"/>
          <p:cNvGrpSpPr/>
          <p:nvPr/>
        </p:nvGrpSpPr>
        <p:grpSpPr>
          <a:xfrm>
            <a:off x="1951200" y="5079599"/>
            <a:ext cx="1699200" cy="1224000"/>
            <a:chOff x="180000" y="5079600"/>
            <a:chExt cx="1699200" cy="1224000"/>
          </a:xfrm>
        </p:grpSpPr>
        <p:sp>
          <p:nvSpPr>
            <p:cNvPr id="22" name="Rectangle 21">
              <a:hlinkClick r:id="rId15" tooltip="Blog MSMVPS"/>
            </p:cNvPr>
            <p:cNvSpPr/>
            <p:nvPr/>
          </p:nvSpPr>
          <p:spPr>
            <a:xfrm>
              <a:off x="180000" y="5079600"/>
              <a:ext cx="1699200" cy="1224000"/>
            </a:xfrm>
            <a:prstGeom prst="rect">
              <a:avLst/>
            </a:prstGeom>
            <a:solidFill>
              <a:srgbClr val="293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>
              <a:hlinkClick r:id="rId15" tooltip="Blog MSMVPS"/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80000" y="5320865"/>
              <a:ext cx="1699200" cy="741469"/>
            </a:xfrm>
            <a:prstGeom prst="rect">
              <a:avLst/>
            </a:prstGeom>
          </p:spPr>
        </p:pic>
      </p:grpSp>
      <p:grpSp>
        <p:nvGrpSpPr>
          <p:cNvPr id="56" name="Group 55"/>
          <p:cNvGrpSpPr/>
          <p:nvPr/>
        </p:nvGrpSpPr>
        <p:grpSpPr>
          <a:xfrm>
            <a:off x="1951199" y="3783600"/>
            <a:ext cx="1699200" cy="1224000"/>
            <a:chOff x="1951200" y="5079600"/>
            <a:chExt cx="1699200" cy="1224000"/>
          </a:xfrm>
        </p:grpSpPr>
        <p:sp>
          <p:nvSpPr>
            <p:cNvPr id="23" name="Rectangle 22">
              <a:hlinkClick r:id="rId17" tooltip="MSDN Profile"/>
            </p:cNvPr>
            <p:cNvSpPr/>
            <p:nvPr/>
          </p:nvSpPr>
          <p:spPr>
            <a:xfrm>
              <a:off x="1951200" y="5079600"/>
              <a:ext cx="1699200" cy="122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49">
              <a:hlinkClick r:id="rId17" tooltip="MSDN Profile"/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1200" y="5539199"/>
              <a:ext cx="1219200" cy="304800"/>
            </a:xfrm>
            <a:prstGeom prst="rect">
              <a:avLst/>
            </a:prstGeom>
          </p:spPr>
        </p:pic>
      </p:grpSp>
      <p:grpSp>
        <p:nvGrpSpPr>
          <p:cNvPr id="54" name="Group 53"/>
          <p:cNvGrpSpPr/>
          <p:nvPr/>
        </p:nvGrpSpPr>
        <p:grpSpPr>
          <a:xfrm>
            <a:off x="3722399" y="5079600"/>
            <a:ext cx="1699201" cy="1224000"/>
            <a:chOff x="3722399" y="5079600"/>
            <a:chExt cx="1699201" cy="1224000"/>
          </a:xfrm>
        </p:grpSpPr>
        <p:sp>
          <p:nvSpPr>
            <p:cNvPr id="24" name="Rectangle 23">
              <a:hlinkClick r:id="rId19" tooltip="Blog Weblogs.ASP.NET"/>
            </p:cNvPr>
            <p:cNvSpPr/>
            <p:nvPr/>
          </p:nvSpPr>
          <p:spPr>
            <a:xfrm>
              <a:off x="3722400" y="5079600"/>
              <a:ext cx="1699200" cy="122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52">
              <a:hlinkClick r:id="rId19" tooltip="Blog Weblogs.ASP.NET"/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722399" y="5147855"/>
              <a:ext cx="1699200" cy="1087488"/>
            </a:xfrm>
            <a:prstGeom prst="rect">
              <a:avLst/>
            </a:prstGeom>
          </p:spPr>
        </p:pic>
      </p:grpSp>
      <p:grpSp>
        <p:nvGrpSpPr>
          <p:cNvPr id="60" name="Group 59"/>
          <p:cNvGrpSpPr/>
          <p:nvPr/>
        </p:nvGrpSpPr>
        <p:grpSpPr>
          <a:xfrm>
            <a:off x="7264800" y="3783600"/>
            <a:ext cx="1699200" cy="1224000"/>
            <a:chOff x="7264800" y="3783600"/>
            <a:chExt cx="1699200" cy="1224000"/>
          </a:xfrm>
        </p:grpSpPr>
        <p:sp>
          <p:nvSpPr>
            <p:cNvPr id="21" name="Rectangle 20">
              <a:hlinkClick r:id="rId21" tooltip="LINQ Com C#"/>
            </p:cNvPr>
            <p:cNvSpPr/>
            <p:nvPr/>
          </p:nvSpPr>
          <p:spPr>
            <a:xfrm>
              <a:off x="7264800" y="3783600"/>
              <a:ext cx="1699200" cy="122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hlinkClick r:id="rId21" tooltip="LINQ Com C#"/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2543" y="3852335"/>
              <a:ext cx="763714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646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05985" y="24358"/>
            <a:ext cx="6012160" cy="908720"/>
          </a:xfrm>
        </p:spPr>
        <p:txBody>
          <a:bodyPr/>
          <a:lstStyle/>
          <a:p>
            <a:r>
              <a:rPr lang="en-US" dirty="0"/>
              <a:t>A Language For Each Generation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153657" y="1221110"/>
            <a:ext cx="8784976" cy="5040560"/>
          </a:xfrm>
        </p:spPr>
        <p:txBody>
          <a:bodyPr/>
          <a:lstStyle/>
          <a:p>
            <a:endParaRPr lang="pt-PT" dirty="0"/>
          </a:p>
        </p:txBody>
      </p:sp>
      <p:sp>
        <p:nvSpPr>
          <p:cNvPr id="11" name="bottom 1960"/>
          <p:cNvSpPr/>
          <p:nvPr/>
        </p:nvSpPr>
        <p:spPr bwMode="auto">
          <a:xfrm>
            <a:off x="153682" y="2695558"/>
            <a:ext cx="2088000" cy="208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Fortran, Cobol</a:t>
            </a:r>
            <a:endParaRPr lang="en-US" spc="-5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bottom 1980"/>
          <p:cNvSpPr>
            <a:spLocks noChangeAspect="1"/>
          </p:cNvSpPr>
          <p:nvPr/>
        </p:nvSpPr>
        <p:spPr bwMode="auto">
          <a:xfrm>
            <a:off x="2386146" y="2695558"/>
            <a:ext cx="2088001" cy="208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Basic, C, </a:t>
            </a:r>
            <a:r>
              <a:rPr lang="en-US" spc="-50" dirty="0" err="1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Asm</a:t>
            </a:r>
            <a:endParaRPr lang="en-US" spc="-5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bottom 1990"/>
          <p:cNvSpPr>
            <a:spLocks noChangeAspect="1"/>
          </p:cNvSpPr>
          <p:nvPr/>
        </p:nvSpPr>
        <p:spPr bwMode="auto">
          <a:xfrm>
            <a:off x="4644000" y="2695558"/>
            <a:ext cx="2088000" cy="2092806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5720" rIns="4680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VB, C</a:t>
            </a:r>
            <a:r>
              <a:rPr lang="en-US" sz="1600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++</a:t>
            </a:r>
            <a:r>
              <a:rPr lang="en-US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, Java, C#</a:t>
            </a:r>
            <a:endParaRPr lang="en-US" spc="-5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bottom 2010"/>
          <p:cNvSpPr>
            <a:spLocks noChangeAspect="1"/>
          </p:cNvSpPr>
          <p:nvPr/>
        </p:nvSpPr>
        <p:spPr bwMode="auto">
          <a:xfrm>
            <a:off x="6876000" y="2695558"/>
            <a:ext cx="2088000" cy="2087999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-50" dirty="0" err="1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Async</a:t>
            </a:r>
            <a:endParaRPr lang="en-US" sz="2400" spc="-5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960" descr="C:\Users\gpaperin\Documents\TechReady14\images\MainFram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82" y="2695558"/>
            <a:ext cx="2088000" cy="156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980" descr="C:\Users\gpaperin\Documents\TechReady14\images\C6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145" y="2695558"/>
            <a:ext cx="2088000" cy="156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990" descr="C:\Users\gpaperin\Documents\TechReady14\images\Laptop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0" y="2695558"/>
            <a:ext cx="2088000" cy="156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010" descr="C:\Users\gpaperin\Documents\TechReady14\images\Win8Tablet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8" b="3339"/>
          <a:stretch/>
        </p:blipFill>
        <p:spPr bwMode="auto">
          <a:xfrm>
            <a:off x="6876000" y="2695558"/>
            <a:ext cx="2088000" cy="156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clou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8184" y="2714607"/>
            <a:ext cx="910449" cy="714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op 1960"/>
          <p:cNvSpPr>
            <a:spLocks noChangeAspect="1"/>
          </p:cNvSpPr>
          <p:nvPr/>
        </p:nvSpPr>
        <p:spPr bwMode="auto">
          <a:xfrm>
            <a:off x="154145" y="2695558"/>
            <a:ext cx="2088001" cy="208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400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 pitchFamily="34" charset="0"/>
                <a:ea typeface="Segoe UI" pitchFamily="34" charset="0"/>
                <a:cs typeface="Segoe UI Light" pitchFamily="34" charset="0"/>
              </a:rPr>
              <a:t>1960</a:t>
            </a:r>
            <a:endParaRPr lang="en-US" sz="5400" spc="-5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Light" pitchFamily="34" charset="0"/>
              <a:ea typeface="Segoe UI" pitchFamily="34" charset="0"/>
              <a:cs typeface="Segoe UI Light" pitchFamily="34" charset="0"/>
            </a:endParaRPr>
          </a:p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Mainframe</a:t>
            </a:r>
            <a:endParaRPr lang="en-US" sz="2000" spc="-50" dirty="0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op 1980"/>
          <p:cNvSpPr>
            <a:spLocks noChangeAspect="1"/>
          </p:cNvSpPr>
          <p:nvPr/>
        </p:nvSpPr>
        <p:spPr bwMode="auto">
          <a:xfrm>
            <a:off x="2386145" y="2695558"/>
            <a:ext cx="2088001" cy="208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0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 pitchFamily="34" charset="0"/>
                <a:ea typeface="Segoe UI" pitchFamily="34" charset="0"/>
                <a:cs typeface="Segoe UI Light" pitchFamily="34" charset="0"/>
              </a:rPr>
              <a:t>1980</a:t>
            </a:r>
            <a:endParaRPr lang="en-US" sz="6000" spc="-5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Light" pitchFamily="34" charset="0"/>
              <a:ea typeface="Segoe UI" pitchFamily="34" charset="0"/>
              <a:cs typeface="Segoe UI Light" pitchFamily="34" charset="0"/>
            </a:endParaRPr>
          </a:p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Microcomputer</a:t>
            </a:r>
          </a:p>
        </p:txBody>
      </p:sp>
      <p:sp>
        <p:nvSpPr>
          <p:cNvPr id="15" name="top 1990"/>
          <p:cNvSpPr>
            <a:spLocks noChangeAspect="1"/>
          </p:cNvSpPr>
          <p:nvPr/>
        </p:nvSpPr>
        <p:spPr bwMode="auto">
          <a:xfrm>
            <a:off x="4618145" y="2695558"/>
            <a:ext cx="2088001" cy="208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0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 pitchFamily="34" charset="0"/>
                <a:ea typeface="Segoe UI" pitchFamily="34" charset="0"/>
                <a:cs typeface="Segoe UI Light" pitchFamily="34" charset="0"/>
              </a:rPr>
              <a:t>1990</a:t>
            </a:r>
            <a:endParaRPr lang="en-US" sz="6000" spc="-5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Light" pitchFamily="34" charset="0"/>
              <a:ea typeface="Segoe UI" pitchFamily="34" charset="0"/>
              <a:cs typeface="Segoe UI Light" pitchFamily="34" charset="0"/>
            </a:endParaRPr>
          </a:p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Desktop</a:t>
            </a:r>
          </a:p>
        </p:txBody>
      </p:sp>
      <p:sp>
        <p:nvSpPr>
          <p:cNvPr id="16" name="top 2010"/>
          <p:cNvSpPr>
            <a:spLocks noChangeAspect="1"/>
          </p:cNvSpPr>
          <p:nvPr/>
        </p:nvSpPr>
        <p:spPr bwMode="auto">
          <a:xfrm>
            <a:off x="6876000" y="2696327"/>
            <a:ext cx="2088001" cy="208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0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 pitchFamily="34" charset="0"/>
                <a:ea typeface="Segoe UI" pitchFamily="34" charset="0"/>
                <a:cs typeface="Segoe UI Light" pitchFamily="34" charset="0"/>
              </a:rPr>
              <a:t>2010</a:t>
            </a:r>
            <a:endParaRPr lang="en-US" sz="6000" spc="-5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Light" pitchFamily="34" charset="0"/>
              <a:ea typeface="Segoe UI" pitchFamily="34" charset="0"/>
              <a:cs typeface="Segoe UI Light" pitchFamily="34" charset="0"/>
            </a:endParaRPr>
          </a:p>
          <a:p>
            <a:pPr defTabSz="91409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spc="-5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Distributed</a:t>
            </a:r>
          </a:p>
        </p:txBody>
      </p:sp>
    </p:spTree>
    <p:extLst>
      <p:ext uri="{BB962C8B-B14F-4D97-AF65-F5344CB8AC3E}">
        <p14:creationId xmlns:p14="http://schemas.microsoft.com/office/powerpoint/2010/main" val="283644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The</a:t>
            </a:r>
            <a:r>
              <a:rPr lang="pt-PT" dirty="0" smtClean="0"/>
              <a:t> </a:t>
            </a:r>
            <a:r>
              <a:rPr lang="pt-PT" dirty="0" err="1" smtClean="0"/>
              <a:t>Evolution</a:t>
            </a:r>
            <a:r>
              <a:rPr lang="pt-PT" dirty="0" smtClean="0"/>
              <a:t> </a:t>
            </a:r>
            <a:r>
              <a:rPr lang="pt-PT" dirty="0" err="1" smtClean="0"/>
              <a:t>Of</a:t>
            </a:r>
            <a:r>
              <a:rPr lang="pt-PT" dirty="0" smtClean="0"/>
              <a:t> C#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bottom 1"/>
          <p:cNvSpPr/>
          <p:nvPr/>
        </p:nvSpPr>
        <p:spPr>
          <a:xfrm>
            <a:off x="180000" y="2867432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1.0</a:t>
            </a:r>
            <a:endParaRPr lang="en-US" dirty="0"/>
          </a:p>
        </p:txBody>
      </p:sp>
      <p:sp>
        <p:nvSpPr>
          <p:cNvPr id="5" name="bottom 2"/>
          <p:cNvSpPr/>
          <p:nvPr/>
        </p:nvSpPr>
        <p:spPr>
          <a:xfrm>
            <a:off x="1951200" y="2869200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2.0</a:t>
            </a:r>
            <a:endParaRPr lang="en-US" dirty="0"/>
          </a:p>
        </p:txBody>
      </p:sp>
      <p:sp>
        <p:nvSpPr>
          <p:cNvPr id="6" name="bottom 3"/>
          <p:cNvSpPr/>
          <p:nvPr/>
        </p:nvSpPr>
        <p:spPr>
          <a:xfrm>
            <a:off x="3722400" y="2869200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3.0</a:t>
            </a:r>
            <a:endParaRPr lang="en-US" dirty="0"/>
          </a:p>
        </p:txBody>
      </p:sp>
      <p:sp>
        <p:nvSpPr>
          <p:cNvPr id="7" name="bottom 4"/>
          <p:cNvSpPr/>
          <p:nvPr/>
        </p:nvSpPr>
        <p:spPr>
          <a:xfrm>
            <a:off x="5493600" y="2869200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4.0</a:t>
            </a:r>
            <a:endParaRPr lang="en-US" dirty="0"/>
          </a:p>
        </p:txBody>
      </p:sp>
      <p:sp>
        <p:nvSpPr>
          <p:cNvPr id="8" name="bottom 5"/>
          <p:cNvSpPr/>
          <p:nvPr/>
        </p:nvSpPr>
        <p:spPr>
          <a:xfrm>
            <a:off x="7286645" y="2869200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5.0</a:t>
            </a:r>
            <a:endParaRPr lang="en-US" dirty="0"/>
          </a:p>
        </p:txBody>
      </p:sp>
      <p:sp>
        <p:nvSpPr>
          <p:cNvPr id="9" name="top 1"/>
          <p:cNvSpPr/>
          <p:nvPr/>
        </p:nvSpPr>
        <p:spPr>
          <a:xfrm>
            <a:off x="180000" y="2869200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err="1" smtClean="0"/>
              <a:t>Managed</a:t>
            </a:r>
            <a:endParaRPr lang="en-US" dirty="0"/>
          </a:p>
        </p:txBody>
      </p:sp>
      <p:sp>
        <p:nvSpPr>
          <p:cNvPr id="10" name="top 2"/>
          <p:cNvSpPr/>
          <p:nvPr/>
        </p:nvSpPr>
        <p:spPr>
          <a:xfrm>
            <a:off x="1951200" y="2867432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err="1" smtClean="0"/>
              <a:t>Generics</a:t>
            </a:r>
            <a:endParaRPr lang="en-US" dirty="0"/>
          </a:p>
        </p:txBody>
      </p:sp>
      <p:sp>
        <p:nvSpPr>
          <p:cNvPr id="11" name="top 3"/>
          <p:cNvSpPr/>
          <p:nvPr/>
        </p:nvSpPr>
        <p:spPr>
          <a:xfrm>
            <a:off x="3722400" y="2867432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smtClean="0"/>
              <a:t>LINQ</a:t>
            </a:r>
            <a:endParaRPr lang="en-US" dirty="0"/>
          </a:p>
        </p:txBody>
      </p:sp>
      <p:sp>
        <p:nvSpPr>
          <p:cNvPr id="12" name="top 4"/>
          <p:cNvSpPr/>
          <p:nvPr/>
        </p:nvSpPr>
        <p:spPr>
          <a:xfrm>
            <a:off x="5493600" y="2869200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err="1" smtClean="0"/>
              <a:t>Dynamic</a:t>
            </a:r>
            <a:endParaRPr lang="en-US" dirty="0"/>
          </a:p>
        </p:txBody>
      </p:sp>
      <p:sp>
        <p:nvSpPr>
          <p:cNvPr id="13" name="top 5"/>
          <p:cNvSpPr/>
          <p:nvPr/>
        </p:nvSpPr>
        <p:spPr>
          <a:xfrm>
            <a:off x="7286645" y="2869200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err="1" smtClean="0"/>
              <a:t>Async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98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The</a:t>
            </a:r>
            <a:r>
              <a:rPr lang="pt-PT" dirty="0" smtClean="0"/>
              <a:t> </a:t>
            </a:r>
            <a:r>
              <a:rPr lang="pt-PT" dirty="0" err="1" smtClean="0"/>
              <a:t>Evolution</a:t>
            </a:r>
            <a:r>
              <a:rPr lang="pt-PT" dirty="0" smtClean="0"/>
              <a:t> </a:t>
            </a:r>
            <a:r>
              <a:rPr lang="pt-PT" dirty="0" err="1" smtClean="0"/>
              <a:t>Of</a:t>
            </a:r>
            <a:r>
              <a:rPr lang="pt-PT" dirty="0" smtClean="0"/>
              <a:t> C#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bottom 1"/>
          <p:cNvSpPr/>
          <p:nvPr/>
        </p:nvSpPr>
        <p:spPr>
          <a:xfrm>
            <a:off x="180000" y="2867432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1.0</a:t>
            </a:r>
            <a:endParaRPr lang="en-US" dirty="0"/>
          </a:p>
        </p:txBody>
      </p:sp>
      <p:sp>
        <p:nvSpPr>
          <p:cNvPr id="5" name="bottom 2"/>
          <p:cNvSpPr/>
          <p:nvPr/>
        </p:nvSpPr>
        <p:spPr>
          <a:xfrm>
            <a:off x="1951200" y="2869200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2.0</a:t>
            </a:r>
            <a:endParaRPr lang="en-US" dirty="0"/>
          </a:p>
        </p:txBody>
      </p:sp>
      <p:sp>
        <p:nvSpPr>
          <p:cNvPr id="6" name="bottom 3"/>
          <p:cNvSpPr/>
          <p:nvPr/>
        </p:nvSpPr>
        <p:spPr>
          <a:xfrm>
            <a:off x="3722400" y="2869200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3.0</a:t>
            </a:r>
            <a:endParaRPr lang="en-US" dirty="0"/>
          </a:p>
        </p:txBody>
      </p:sp>
      <p:sp>
        <p:nvSpPr>
          <p:cNvPr id="7" name="bottom 4"/>
          <p:cNvSpPr/>
          <p:nvPr/>
        </p:nvSpPr>
        <p:spPr>
          <a:xfrm>
            <a:off x="5493600" y="2869200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4.0</a:t>
            </a:r>
            <a:endParaRPr lang="en-US" dirty="0"/>
          </a:p>
        </p:txBody>
      </p:sp>
      <p:sp>
        <p:nvSpPr>
          <p:cNvPr id="8" name="bottom 5"/>
          <p:cNvSpPr/>
          <p:nvPr/>
        </p:nvSpPr>
        <p:spPr>
          <a:xfrm>
            <a:off x="7286645" y="2869200"/>
            <a:ext cx="1699200" cy="169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pt-PT" dirty="0" smtClean="0"/>
              <a:t>C# 5.0</a:t>
            </a:r>
            <a:endParaRPr lang="en-US" dirty="0"/>
          </a:p>
        </p:txBody>
      </p:sp>
      <p:sp>
        <p:nvSpPr>
          <p:cNvPr id="9" name="top 1"/>
          <p:cNvSpPr/>
          <p:nvPr/>
        </p:nvSpPr>
        <p:spPr>
          <a:xfrm>
            <a:off x="180000" y="2869200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err="1" smtClean="0"/>
              <a:t>Managed</a:t>
            </a:r>
            <a:endParaRPr lang="en-US" dirty="0"/>
          </a:p>
        </p:txBody>
      </p:sp>
      <p:sp>
        <p:nvSpPr>
          <p:cNvPr id="10" name="top 2"/>
          <p:cNvSpPr/>
          <p:nvPr/>
        </p:nvSpPr>
        <p:spPr>
          <a:xfrm>
            <a:off x="1951200" y="2867432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err="1" smtClean="0"/>
              <a:t>Generics</a:t>
            </a:r>
            <a:endParaRPr lang="en-US" dirty="0"/>
          </a:p>
        </p:txBody>
      </p:sp>
      <p:sp>
        <p:nvSpPr>
          <p:cNvPr id="11" name="top 3"/>
          <p:cNvSpPr/>
          <p:nvPr/>
        </p:nvSpPr>
        <p:spPr>
          <a:xfrm>
            <a:off x="3722400" y="2867432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smtClean="0"/>
              <a:t>LINQ</a:t>
            </a:r>
            <a:endParaRPr lang="en-US" dirty="0"/>
          </a:p>
        </p:txBody>
      </p:sp>
      <p:sp>
        <p:nvSpPr>
          <p:cNvPr id="12" name="top 4"/>
          <p:cNvSpPr/>
          <p:nvPr/>
        </p:nvSpPr>
        <p:spPr>
          <a:xfrm>
            <a:off x="5493600" y="2869200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err="1" smtClean="0"/>
              <a:t>Dynamic</a:t>
            </a:r>
            <a:endParaRPr lang="en-US" dirty="0"/>
          </a:p>
        </p:txBody>
      </p:sp>
      <p:sp>
        <p:nvSpPr>
          <p:cNvPr id="13" name="top 5"/>
          <p:cNvSpPr/>
          <p:nvPr/>
        </p:nvSpPr>
        <p:spPr>
          <a:xfrm>
            <a:off x="7286645" y="2869200"/>
            <a:ext cx="1699200" cy="127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2400" dirty="0" err="1" smtClean="0"/>
              <a:t>Async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1" y="0"/>
            <a:ext cx="9143999" cy="6857999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1960" y="2708920"/>
            <a:ext cx="640080" cy="6190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31874" y="3473261"/>
            <a:ext cx="623097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p</a:t>
            </a:r>
            <a:r>
              <a:rPr lang="en-US" sz="2000" b="1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lease wait for the next slide</a:t>
            </a:r>
            <a:endParaRPr lang="en-GB" sz="2000" dirty="0" smtClean="0">
              <a:solidFill>
                <a:schemeClr val="tx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32094" y="3812692"/>
            <a:ext cx="623097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clicking won’t make it come any faster</a:t>
            </a:r>
            <a:endParaRPr lang="en-GB" sz="20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63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Demo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 smtClean="0"/>
              <a:t>Sync</a:t>
            </a:r>
            <a:r>
              <a:rPr lang="pt-PT" dirty="0" smtClean="0"/>
              <a:t> UI </a:t>
            </a:r>
            <a:r>
              <a:rPr lang="pt-PT" dirty="0" err="1" smtClean="0"/>
              <a:t>app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5157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Introducing </a:t>
            </a:r>
            <a:r>
              <a:rPr lang="en-US" dirty="0" err="1" smtClean="0"/>
              <a:t>Async</a:t>
            </a:r>
            <a:r>
              <a:rPr lang="en-US" dirty="0" smtClean="0"/>
              <a:t> - Yesterday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xplosion 1 3"/>
          <p:cNvSpPr/>
          <p:nvPr/>
        </p:nvSpPr>
        <p:spPr>
          <a:xfrm>
            <a:off x="1060245" y="4748362"/>
            <a:ext cx="1535737" cy="822540"/>
          </a:xfrm>
          <a:prstGeom prst="irregularSeal1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665982" y="3471925"/>
            <a:ext cx="4298506" cy="2259595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void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</a:t>
            </a:r>
          </a:p>
          <a:p>
            <a:pPr>
              <a:lnSpc>
                <a:spcPct val="115000"/>
              </a:lnSpc>
            </a:pPr>
            <a:r>
              <a:rPr lang="pt-PT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// ...</a:t>
            </a: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LoadLocalData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(...);</a:t>
            </a: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// ...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9061" y="2134600"/>
            <a:ext cx="3417311" cy="1947352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void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Button_Click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...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UpdateView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Explosion 1 6"/>
          <p:cNvSpPr/>
          <p:nvPr/>
        </p:nvSpPr>
        <p:spPr>
          <a:xfrm>
            <a:off x="1149061" y="1403500"/>
            <a:ext cx="1535737" cy="822540"/>
          </a:xfrm>
          <a:prstGeom prst="irregularSeal1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GB" dirty="0"/>
          </a:p>
        </p:txBody>
      </p:sp>
      <p:sp>
        <p:nvSpPr>
          <p:cNvPr id="8" name="U-Turn Arrow 7"/>
          <p:cNvSpPr/>
          <p:nvPr/>
        </p:nvSpPr>
        <p:spPr>
          <a:xfrm>
            <a:off x="224767" y="1556417"/>
            <a:ext cx="800308" cy="2714627"/>
          </a:xfrm>
          <a:prstGeom prst="uturnArrow">
            <a:avLst>
              <a:gd name="adj1" fmla="val 14706"/>
              <a:gd name="adj2" fmla="val 13603"/>
              <a:gd name="adj3" fmla="val 27942"/>
              <a:gd name="adj4" fmla="val 46875"/>
              <a:gd name="adj5" fmla="val 518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U-Turn Arrow 8"/>
          <p:cNvSpPr/>
          <p:nvPr/>
        </p:nvSpPr>
        <p:spPr>
          <a:xfrm rot="10800000">
            <a:off x="179513" y="3128042"/>
            <a:ext cx="800308" cy="2714627"/>
          </a:xfrm>
          <a:prstGeom prst="uturnArrow">
            <a:avLst>
              <a:gd name="adj1" fmla="val 14706"/>
              <a:gd name="adj2" fmla="val 13603"/>
              <a:gd name="adj3" fmla="val 27942"/>
              <a:gd name="adj4" fmla="val 46875"/>
              <a:gd name="adj5" fmla="val 518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-1287234" y="3499487"/>
            <a:ext cx="37338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/>
              <a:t>Message</a:t>
            </a:r>
            <a:r>
              <a:rPr lang="en-US" dirty="0" smtClean="0"/>
              <a:t> pump</a:t>
            </a:r>
            <a:endParaRPr lang="en-GB" dirty="0"/>
          </a:p>
        </p:txBody>
      </p:sp>
      <p:sp>
        <p:nvSpPr>
          <p:cNvPr id="11" name="Bent Arrow 10"/>
          <p:cNvSpPr/>
          <p:nvPr/>
        </p:nvSpPr>
        <p:spPr bwMode="auto">
          <a:xfrm rot="5400000">
            <a:off x="1084914" y="1774983"/>
            <a:ext cx="510090" cy="559426"/>
          </a:xfrm>
          <a:prstGeom prst="ben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Bent Arrow 11"/>
          <p:cNvSpPr/>
          <p:nvPr/>
        </p:nvSpPr>
        <p:spPr bwMode="auto">
          <a:xfrm rot="5400000">
            <a:off x="4079669" y="2402184"/>
            <a:ext cx="583043" cy="1902638"/>
          </a:xfrm>
          <a:prstGeom prst="bentArrow">
            <a:avLst>
              <a:gd name="adj1" fmla="val 18014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Bent Arrow 12"/>
          <p:cNvSpPr/>
          <p:nvPr/>
        </p:nvSpPr>
        <p:spPr bwMode="auto">
          <a:xfrm rot="16200000">
            <a:off x="2974776" y="3825199"/>
            <a:ext cx="2186344" cy="1296142"/>
          </a:xfrm>
          <a:prstGeom prst="bentArrow">
            <a:avLst>
              <a:gd name="adj1" fmla="val 10106"/>
              <a:gd name="adj2" fmla="val 14457"/>
              <a:gd name="adj3" fmla="val 12951"/>
              <a:gd name="adj4" fmla="val 19652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Bent Arrow 13"/>
          <p:cNvSpPr/>
          <p:nvPr/>
        </p:nvSpPr>
        <p:spPr bwMode="auto">
          <a:xfrm rot="5400000">
            <a:off x="1067329" y="5179177"/>
            <a:ext cx="510090" cy="594597"/>
          </a:xfrm>
          <a:prstGeom prst="ben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Octagon 14"/>
          <p:cNvSpPr/>
          <p:nvPr/>
        </p:nvSpPr>
        <p:spPr>
          <a:xfrm>
            <a:off x="829207" y="1741202"/>
            <a:ext cx="182880" cy="182880"/>
          </a:xfrm>
          <a:prstGeom prst="octag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75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2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0.04005 C 0.00156 0.10347 0.00382 0.16667 0.00295 0.23125 C 0.00417 0.3331 -0.00121 0.4331 -8.33333E-7 0.53449 C -0.00069 0.54699 -0.00486 0.55463 -0.00989 0.56296 C -0.01823 0.56736 -0.02517 0.57639 -0.03455 0.57685 C -0.04219 0.57685 -0.05174 0.56852 -0.05781 0.56481 C -0.06649 0.55162 -0.06667 0.55301 -0.0691 0.5331 C -0.0691 0.3625 -0.0691 0.1919 -0.06927 0.02268 L -0.05729 -0.01944 L -0.03628 -0.02963 L -0.00486 -0.01806 L -8.33333E-7 3.7037E-7 " pathEditMode="relative" rAng="0" ptsTypes="AAAAAAAAAAAA">
                                      <p:cBhvr>
                                        <p:cTn id="6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90" y="2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7037E-7 L 0.05625 0.00231 L 0.06563 0.02176 L 0.06667 0.05602 L 0.06719 0.1794 " pathEditMode="relative" rAng="0" ptsTypes="AAAAA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1" y="8958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719 0.1794 L 0.44011 0.17315 L 0.46025 0.19606 L 0.46216 0.26111 L 0.46216 0.37523 " pathEditMode="relative" rAng="0" ptsTypes="AAAAA">
                                      <p:cBhvr>
                                        <p:cTn id="31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57" y="9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129 0.4456 L 0.46129 0.51042 L 0.454 0.53287 L 0.30921 0.53634 L 0.29115 0.49097 L 0.29115 0.28704 L 0.27969 0.24236 L 0.06719 0.23912 " pathEditMode="relative" rAng="0" ptsTypes="AAAAAAAA">
                                      <p:cBhvr>
                                        <p:cTn id="3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05" y="-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"/>
                            </p:stCondLst>
                            <p:childTnLst>
                              <p:par>
                                <p:cTn id="40" presetID="0" presetClass="pat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719 0.23287 L 0.06719 0.31227 L 0.00556 0.31227 L 0.00035 0.32662 L 0.00035 0.3375 " pathEditMode="relative" rAng="0" ptsTypes="AAAAA">
                                      <p:cBhvr>
                                        <p:cTn id="4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51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3375 L 0.00035 0.52083 L 0.04809 0.525 L 0.06233 0.5463 L 0.06337 0.5662 " pathEditMode="relative" rAng="0" ptsTypes="AAAAA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11435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7" grpId="1" animBg="1"/>
      <p:bldP spid="11" grpId="0" animBg="1"/>
      <p:bldP spid="12" grpId="0" animBg="1"/>
      <p:bldP spid="13" grpId="0" animBg="1"/>
      <p:bldP spid="14" grpId="0" animBg="1"/>
      <p:bldP spid="15" grpId="0" animBg="1"/>
      <p:bldP spid="15" grpId="1" animBg="1"/>
      <p:bldP spid="15" grpId="2" animBg="1"/>
      <p:bldP spid="15" grpId="3" animBg="1"/>
      <p:bldP spid="15" grpId="4" animBg="1"/>
      <p:bldP spid="15" grpId="5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Introducing </a:t>
            </a:r>
            <a:r>
              <a:rPr lang="en-US" dirty="0" err="1" smtClean="0"/>
              <a:t>Async</a:t>
            </a:r>
            <a:r>
              <a:rPr lang="en-US" dirty="0" smtClean="0"/>
              <a:t> - Today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17" name="Explosion 1 16"/>
          <p:cNvSpPr/>
          <p:nvPr/>
        </p:nvSpPr>
        <p:spPr>
          <a:xfrm>
            <a:off x="1060245" y="4746410"/>
            <a:ext cx="1535737" cy="822540"/>
          </a:xfrm>
          <a:prstGeom prst="irregularSeal1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4665982" y="3471925"/>
            <a:ext cx="4298506" cy="2259595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void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</a:t>
            </a:r>
          </a:p>
          <a:p>
            <a:pPr>
              <a:lnSpc>
                <a:spcPct val="115000"/>
              </a:lnSpc>
            </a:pPr>
            <a:r>
              <a:rPr lang="pt-PT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// ...</a:t>
            </a: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DownloadRemoteData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(...);</a:t>
            </a: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// ...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49061" y="2134600"/>
            <a:ext cx="3417311" cy="1947352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void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Button_Click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...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UpdateView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20" name="Explosion 1 19"/>
          <p:cNvSpPr/>
          <p:nvPr/>
        </p:nvSpPr>
        <p:spPr>
          <a:xfrm>
            <a:off x="1149061" y="1401548"/>
            <a:ext cx="1535737" cy="822540"/>
          </a:xfrm>
          <a:prstGeom prst="irregularSeal1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GB" dirty="0"/>
          </a:p>
        </p:txBody>
      </p:sp>
      <p:sp>
        <p:nvSpPr>
          <p:cNvPr id="21" name="U-Turn Arrow 20"/>
          <p:cNvSpPr/>
          <p:nvPr/>
        </p:nvSpPr>
        <p:spPr>
          <a:xfrm>
            <a:off x="224767" y="1554465"/>
            <a:ext cx="800308" cy="2714627"/>
          </a:xfrm>
          <a:prstGeom prst="uturnArrow">
            <a:avLst>
              <a:gd name="adj1" fmla="val 14706"/>
              <a:gd name="adj2" fmla="val 13603"/>
              <a:gd name="adj3" fmla="val 27942"/>
              <a:gd name="adj4" fmla="val 46875"/>
              <a:gd name="adj5" fmla="val 518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U-Turn Arrow 21"/>
          <p:cNvSpPr/>
          <p:nvPr/>
        </p:nvSpPr>
        <p:spPr>
          <a:xfrm rot="10800000">
            <a:off x="179513" y="3126090"/>
            <a:ext cx="800308" cy="2714627"/>
          </a:xfrm>
          <a:prstGeom prst="uturnArrow">
            <a:avLst>
              <a:gd name="adj1" fmla="val 14706"/>
              <a:gd name="adj2" fmla="val 13603"/>
              <a:gd name="adj3" fmla="val 27942"/>
              <a:gd name="adj4" fmla="val 46875"/>
              <a:gd name="adj5" fmla="val 518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16200000">
            <a:off x="-1287234" y="3497535"/>
            <a:ext cx="37338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/>
              <a:t>Message</a:t>
            </a:r>
            <a:r>
              <a:rPr lang="en-US" dirty="0" smtClean="0"/>
              <a:t> pump</a:t>
            </a:r>
            <a:endParaRPr lang="en-GB" dirty="0"/>
          </a:p>
        </p:txBody>
      </p:sp>
      <p:sp>
        <p:nvSpPr>
          <p:cNvPr id="24" name="Bent Arrow 23"/>
          <p:cNvSpPr/>
          <p:nvPr/>
        </p:nvSpPr>
        <p:spPr bwMode="auto">
          <a:xfrm rot="5400000">
            <a:off x="1120918" y="1737027"/>
            <a:ext cx="510090" cy="631434"/>
          </a:xfrm>
          <a:prstGeom prst="ben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Bent Arrow 24"/>
          <p:cNvSpPr/>
          <p:nvPr/>
        </p:nvSpPr>
        <p:spPr bwMode="auto">
          <a:xfrm rot="5400000">
            <a:off x="4012521" y="2404303"/>
            <a:ext cx="590749" cy="1776046"/>
          </a:xfrm>
          <a:prstGeom prst="bentArrow">
            <a:avLst>
              <a:gd name="adj1" fmla="val 18014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Bent Arrow 25"/>
          <p:cNvSpPr/>
          <p:nvPr/>
        </p:nvSpPr>
        <p:spPr bwMode="auto">
          <a:xfrm rot="16200000">
            <a:off x="2980260" y="3911538"/>
            <a:ext cx="2092565" cy="1213337"/>
          </a:xfrm>
          <a:prstGeom prst="bentArrow">
            <a:avLst>
              <a:gd name="adj1" fmla="val 10106"/>
              <a:gd name="adj2" fmla="val 14457"/>
              <a:gd name="adj3" fmla="val 12951"/>
              <a:gd name="adj4" fmla="val 19652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Bent Arrow 26"/>
          <p:cNvSpPr/>
          <p:nvPr/>
        </p:nvSpPr>
        <p:spPr bwMode="auto">
          <a:xfrm rot="5400000">
            <a:off x="1067329" y="5177225"/>
            <a:ext cx="510090" cy="594597"/>
          </a:xfrm>
          <a:prstGeom prst="ben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Octagon 27"/>
          <p:cNvSpPr/>
          <p:nvPr/>
        </p:nvSpPr>
        <p:spPr>
          <a:xfrm>
            <a:off x="829207" y="1739250"/>
            <a:ext cx="182880" cy="182880"/>
          </a:xfrm>
          <a:prstGeom prst="octag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2102" y="5400463"/>
            <a:ext cx="640080" cy="61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8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1.85185E-6 L 0.05608 0.00139 L 0.06546 0.0162 C 0.0658 0.025 0.06615 0.03356 0.0665 0.04213 C 0.06667 0.07338 0.06737 0.15185 0.06771 0.18333 " pathEditMode="relative" rAng="0" ptsTypes="AAAAA">
                                      <p:cBhvr>
                                        <p:cTn id="1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" y="916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pat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6771 0.18333 L 0.43212 0.17893 C 0.44237 0.17893 0.43941 0.17893 0.44532 0.18935 C 0.45226 0.20393 0.44931 0.19166 0.45 0.20926 C 0.45 0.23935 0.44983 0.35324 0.44983 0.38426 " pathEditMode="relative" rAng="0" ptsTypes="AAAAA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15" y="9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347 0.45069 L 0.45347 0.50856 C 0.44982 0.51736 0.44618 0.52616 0.44253 0.53518 L 0.31267 0.53611 L 0.29357 0.51944 C 0.28142 0.4493 0.3033 0.33472 0.29149 0.26481 C 0.28489 0.24097 0.28976 0.25301 0.27101 0.23866 L 0.06719 0.23935 " pathEditMode="relative" rAng="0" ptsTypes="AAAAAAAA">
                                      <p:cBhvr>
                                        <p:cTn id="4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323" y="-6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0" presetClass="pat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719 0.23935 L 0.06719 0.29815 L 0.00556 0.29815 L 0.00035 0.30879 L 0.00035 0.31713 " pathEditMode="relative" rAng="0" ptsTypes="AAAAA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51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"/>
                            </p:stCondLst>
                            <p:childTnLst>
                              <p:par>
                                <p:cTn id="53" presetID="0" presetClass="pat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4 0.31713 C 0.00052 0.37824 0.00086 0.43958 0.00104 0.50092 L 0.04878 0.50625 L 0.06319 0.53333 L 0.06423 0.55856 " pathEditMode="relative" rAng="0" ptsTypes="AAAAA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4" y="1206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0" grpId="1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8" grpId="2" animBg="1"/>
      <p:bldP spid="28" grpId="3" animBg="1"/>
      <p:bldP spid="28" grpId="4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Demo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 smtClean="0"/>
              <a:t>Add</a:t>
            </a:r>
            <a:r>
              <a:rPr lang="pt-PT" dirty="0" smtClean="0"/>
              <a:t> </a:t>
            </a:r>
            <a:r>
              <a:rPr lang="pt-PT" dirty="0" err="1" smtClean="0"/>
              <a:t>the</a:t>
            </a:r>
            <a:r>
              <a:rPr lang="pt-PT" dirty="0" smtClean="0"/>
              <a:t> </a:t>
            </a:r>
            <a:r>
              <a:rPr lang="pt-PT" b="1" dirty="0" err="1" smtClean="0"/>
              <a:t>async</a:t>
            </a:r>
            <a:r>
              <a:rPr lang="pt-PT" dirty="0" smtClean="0"/>
              <a:t> &amp; </a:t>
            </a:r>
            <a:r>
              <a:rPr lang="pt-PT" b="1" dirty="0" err="1" smtClean="0"/>
              <a:t>await</a:t>
            </a:r>
            <a:r>
              <a:rPr lang="pt-PT" dirty="0" smtClean="0"/>
              <a:t> </a:t>
            </a:r>
            <a:r>
              <a:rPr lang="pt-PT" dirty="0" err="1" smtClean="0"/>
              <a:t>keywords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7790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</a:t>
            </a:r>
            <a:r>
              <a:rPr lang="en-US" dirty="0" err="1"/>
              <a:t>Async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28" name="TextBox 27"/>
          <p:cNvSpPr txBox="1"/>
          <p:nvPr/>
        </p:nvSpPr>
        <p:spPr>
          <a:xfrm>
            <a:off x="1025075" y="2132648"/>
            <a:ext cx="4121841" cy="1870350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err="1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async</a:t>
            </a:r>
            <a:r>
              <a:rPr lang="en-US" sz="2000" b="1" dirty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 void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Button_Click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...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await</a:t>
            </a: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LoadImageAsync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UpdateView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74823" y="4096817"/>
            <a:ext cx="5298435" cy="2165777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err="1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async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/>
                <a:ea typeface="Calibri"/>
                <a:cs typeface="Times New Roman"/>
              </a:rPr>
              <a:t>Task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LoadImageAsync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</a:t>
            </a:r>
          </a:p>
          <a:p>
            <a:pPr>
              <a:lnSpc>
                <a:spcPct val="115000"/>
              </a:lnSpc>
            </a:pPr>
            <a:r>
              <a:rPr lang="pt-PT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// ...</a:t>
            </a: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await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DownloadRemoteDataAsync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(...);</a:t>
            </a: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// ...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6" name="U-Turn Arrow 5"/>
          <p:cNvSpPr/>
          <p:nvPr/>
        </p:nvSpPr>
        <p:spPr>
          <a:xfrm>
            <a:off x="173307" y="1554465"/>
            <a:ext cx="800308" cy="2714627"/>
          </a:xfrm>
          <a:prstGeom prst="uturnArrow">
            <a:avLst>
              <a:gd name="adj1" fmla="val 14706"/>
              <a:gd name="adj2" fmla="val 13603"/>
              <a:gd name="adj3" fmla="val 27942"/>
              <a:gd name="adj4" fmla="val 46875"/>
              <a:gd name="adj5" fmla="val 518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U-Turn Arrow 6"/>
          <p:cNvSpPr/>
          <p:nvPr/>
        </p:nvSpPr>
        <p:spPr>
          <a:xfrm rot="10800000">
            <a:off x="128053" y="3126090"/>
            <a:ext cx="800308" cy="2714627"/>
          </a:xfrm>
          <a:prstGeom prst="uturnArrow">
            <a:avLst>
              <a:gd name="adj1" fmla="val 14706"/>
              <a:gd name="adj2" fmla="val 13603"/>
              <a:gd name="adj3" fmla="val 27942"/>
              <a:gd name="adj4" fmla="val 46875"/>
              <a:gd name="adj5" fmla="val 518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-1338694" y="3497535"/>
            <a:ext cx="37338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/>
              <a:t>Message</a:t>
            </a:r>
            <a:r>
              <a:rPr lang="en-US" dirty="0" smtClean="0"/>
              <a:t> pump</a:t>
            </a:r>
            <a:endParaRPr lang="en-GB" dirty="0"/>
          </a:p>
        </p:txBody>
      </p:sp>
      <p:sp>
        <p:nvSpPr>
          <p:cNvPr id="9" name="Octagon 8"/>
          <p:cNvSpPr/>
          <p:nvPr/>
        </p:nvSpPr>
        <p:spPr>
          <a:xfrm>
            <a:off x="777747" y="1739250"/>
            <a:ext cx="182880" cy="182880"/>
          </a:xfrm>
          <a:prstGeom prst="octag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3666053" y="4101798"/>
            <a:ext cx="5298435" cy="2165777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void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</a:t>
            </a:r>
          </a:p>
          <a:p>
            <a:pPr>
              <a:lnSpc>
                <a:spcPct val="115000"/>
              </a:lnSpc>
            </a:pPr>
            <a:r>
              <a:rPr lang="pt-PT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// ...</a:t>
            </a: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DownloadRemoteData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(...);</a:t>
            </a: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// ...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6" name="Bent Arrow 15"/>
          <p:cNvSpPr/>
          <p:nvPr/>
        </p:nvSpPr>
        <p:spPr bwMode="auto">
          <a:xfrm rot="5400000">
            <a:off x="5029463" y="3070197"/>
            <a:ext cx="1124088" cy="939114"/>
          </a:xfrm>
          <a:prstGeom prst="bentArrow">
            <a:avLst>
              <a:gd name="adj1" fmla="val 18014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Freeform 9"/>
          <p:cNvSpPr/>
          <p:nvPr/>
        </p:nvSpPr>
        <p:spPr bwMode="auto">
          <a:xfrm>
            <a:off x="4047855" y="5555097"/>
            <a:ext cx="734096" cy="25757"/>
          </a:xfrm>
          <a:custGeom>
            <a:avLst/>
            <a:gdLst>
              <a:gd name="connsiteX0" fmla="*/ 0 w 734096"/>
              <a:gd name="connsiteY0" fmla="*/ 0 h 25757"/>
              <a:gd name="connsiteX1" fmla="*/ 64395 w 734096"/>
              <a:gd name="connsiteY1" fmla="*/ 12879 h 25757"/>
              <a:gd name="connsiteX2" fmla="*/ 734096 w 734096"/>
              <a:gd name="connsiteY2" fmla="*/ 25757 h 25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4096" h="25757">
                <a:moveTo>
                  <a:pt x="0" y="0"/>
                </a:moveTo>
                <a:cubicBezTo>
                  <a:pt x="21465" y="4293"/>
                  <a:pt x="42520" y="12069"/>
                  <a:pt x="64395" y="12879"/>
                </a:cubicBezTo>
                <a:cubicBezTo>
                  <a:pt x="419206" y="26020"/>
                  <a:pt x="502759" y="25757"/>
                  <a:pt x="734096" y="25757"/>
                </a:cubicBez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 bwMode="auto">
          <a:xfrm>
            <a:off x="7380312" y="5575987"/>
            <a:ext cx="785611" cy="40168"/>
          </a:xfrm>
          <a:custGeom>
            <a:avLst/>
            <a:gdLst>
              <a:gd name="connsiteX0" fmla="*/ 0 w 785611"/>
              <a:gd name="connsiteY0" fmla="*/ 25758 h 40168"/>
              <a:gd name="connsiteX1" fmla="*/ 347730 w 785611"/>
              <a:gd name="connsiteY1" fmla="*/ 25758 h 40168"/>
              <a:gd name="connsiteX2" fmla="*/ 476518 w 785611"/>
              <a:gd name="connsiteY2" fmla="*/ 0 h 40168"/>
              <a:gd name="connsiteX3" fmla="*/ 785611 w 785611"/>
              <a:gd name="connsiteY3" fmla="*/ 0 h 4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5611" h="40168">
                <a:moveTo>
                  <a:pt x="0" y="25758"/>
                </a:moveTo>
                <a:cubicBezTo>
                  <a:pt x="163235" y="42082"/>
                  <a:pt x="150614" y="47660"/>
                  <a:pt x="347730" y="25758"/>
                </a:cubicBezTo>
                <a:cubicBezTo>
                  <a:pt x="391242" y="20923"/>
                  <a:pt x="432738" y="0"/>
                  <a:pt x="476518" y="0"/>
                </a:cubicBezTo>
                <a:lnTo>
                  <a:pt x="785611" y="0"/>
                </a:ln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>
            <a:off x="3693860" y="4483403"/>
            <a:ext cx="798490" cy="90153"/>
          </a:xfrm>
          <a:custGeom>
            <a:avLst/>
            <a:gdLst>
              <a:gd name="connsiteX0" fmla="*/ 0 w 798490"/>
              <a:gd name="connsiteY0" fmla="*/ 90153 h 90153"/>
              <a:gd name="connsiteX1" fmla="*/ 77273 w 798490"/>
              <a:gd name="connsiteY1" fmla="*/ 51516 h 90153"/>
              <a:gd name="connsiteX2" fmla="*/ 115910 w 798490"/>
              <a:gd name="connsiteY2" fmla="*/ 38637 h 90153"/>
              <a:gd name="connsiteX3" fmla="*/ 206062 w 798490"/>
              <a:gd name="connsiteY3" fmla="*/ 0 h 90153"/>
              <a:gd name="connsiteX4" fmla="*/ 463639 w 798490"/>
              <a:gd name="connsiteY4" fmla="*/ 12879 h 90153"/>
              <a:gd name="connsiteX5" fmla="*/ 515155 w 798490"/>
              <a:gd name="connsiteY5" fmla="*/ 25758 h 90153"/>
              <a:gd name="connsiteX6" fmla="*/ 798490 w 798490"/>
              <a:gd name="connsiteY6" fmla="*/ 38637 h 9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8490" h="90153">
                <a:moveTo>
                  <a:pt x="0" y="90153"/>
                </a:moveTo>
                <a:cubicBezTo>
                  <a:pt x="25758" y="77274"/>
                  <a:pt x="50957" y="63212"/>
                  <a:pt x="77273" y="51516"/>
                </a:cubicBezTo>
                <a:cubicBezTo>
                  <a:pt x="89679" y="46002"/>
                  <a:pt x="103768" y="44708"/>
                  <a:pt x="115910" y="38637"/>
                </a:cubicBezTo>
                <a:cubicBezTo>
                  <a:pt x="204851" y="-5834"/>
                  <a:pt x="98845" y="26804"/>
                  <a:pt x="206062" y="0"/>
                </a:cubicBezTo>
                <a:cubicBezTo>
                  <a:pt x="291921" y="4293"/>
                  <a:pt x="377970" y="5740"/>
                  <a:pt x="463639" y="12879"/>
                </a:cubicBezTo>
                <a:cubicBezTo>
                  <a:pt x="481278" y="14349"/>
                  <a:pt x="497591" y="23563"/>
                  <a:pt x="515155" y="25758"/>
                </a:cubicBezTo>
                <a:cubicBezTo>
                  <a:pt x="646707" y="42202"/>
                  <a:pt x="672631" y="38637"/>
                  <a:pt x="798490" y="38637"/>
                </a:cubicBez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 bwMode="auto">
          <a:xfrm>
            <a:off x="4576665" y="4457002"/>
            <a:ext cx="599429" cy="45719"/>
          </a:xfrm>
          <a:custGeom>
            <a:avLst/>
            <a:gdLst>
              <a:gd name="connsiteX0" fmla="*/ 0 w 785612"/>
              <a:gd name="connsiteY0" fmla="*/ 38637 h 38637"/>
              <a:gd name="connsiteX1" fmla="*/ 656823 w 785612"/>
              <a:gd name="connsiteY1" fmla="*/ 25758 h 38637"/>
              <a:gd name="connsiteX2" fmla="*/ 734096 w 785612"/>
              <a:gd name="connsiteY2" fmla="*/ 0 h 38637"/>
              <a:gd name="connsiteX3" fmla="*/ 785612 w 785612"/>
              <a:gd name="connsiteY3" fmla="*/ 12879 h 3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5612" h="38637">
                <a:moveTo>
                  <a:pt x="0" y="38637"/>
                </a:moveTo>
                <a:cubicBezTo>
                  <a:pt x="218941" y="34344"/>
                  <a:pt x="438143" y="37268"/>
                  <a:pt x="656823" y="25758"/>
                </a:cubicBezTo>
                <a:cubicBezTo>
                  <a:pt x="683936" y="24331"/>
                  <a:pt x="734096" y="0"/>
                  <a:pt x="734096" y="0"/>
                </a:cubicBezTo>
                <a:cubicBezTo>
                  <a:pt x="776806" y="14237"/>
                  <a:pt x="759157" y="12879"/>
                  <a:pt x="785612" y="12879"/>
                </a:cubicBez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 bwMode="auto">
          <a:xfrm>
            <a:off x="6529378" y="4483403"/>
            <a:ext cx="700663" cy="109985"/>
          </a:xfrm>
          <a:custGeom>
            <a:avLst/>
            <a:gdLst>
              <a:gd name="connsiteX0" fmla="*/ 0 w 1081826"/>
              <a:gd name="connsiteY0" fmla="*/ 17 h 103048"/>
              <a:gd name="connsiteX1" fmla="*/ 64395 w 1081826"/>
              <a:gd name="connsiteY1" fmla="*/ 25774 h 103048"/>
              <a:gd name="connsiteX2" fmla="*/ 115910 w 1081826"/>
              <a:gd name="connsiteY2" fmla="*/ 51532 h 103048"/>
              <a:gd name="connsiteX3" fmla="*/ 270457 w 1081826"/>
              <a:gd name="connsiteY3" fmla="*/ 77290 h 103048"/>
              <a:gd name="connsiteX4" fmla="*/ 437882 w 1081826"/>
              <a:gd name="connsiteY4" fmla="*/ 103048 h 103048"/>
              <a:gd name="connsiteX5" fmla="*/ 798490 w 1081826"/>
              <a:gd name="connsiteY5" fmla="*/ 90169 h 103048"/>
              <a:gd name="connsiteX6" fmla="*/ 940158 w 1081826"/>
              <a:gd name="connsiteY6" fmla="*/ 51532 h 103048"/>
              <a:gd name="connsiteX7" fmla="*/ 978795 w 1081826"/>
              <a:gd name="connsiteY7" fmla="*/ 38653 h 103048"/>
              <a:gd name="connsiteX8" fmla="*/ 1017431 w 1081826"/>
              <a:gd name="connsiteY8" fmla="*/ 12895 h 103048"/>
              <a:gd name="connsiteX9" fmla="*/ 1081826 w 1081826"/>
              <a:gd name="connsiteY9" fmla="*/ 17 h 10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1826" h="103048">
                <a:moveTo>
                  <a:pt x="0" y="17"/>
                </a:moveTo>
                <a:cubicBezTo>
                  <a:pt x="21465" y="8603"/>
                  <a:pt x="43269" y="16385"/>
                  <a:pt x="64395" y="25774"/>
                </a:cubicBezTo>
                <a:cubicBezTo>
                  <a:pt x="81939" y="33571"/>
                  <a:pt x="97697" y="45461"/>
                  <a:pt x="115910" y="51532"/>
                </a:cubicBezTo>
                <a:cubicBezTo>
                  <a:pt x="143456" y="60714"/>
                  <a:pt x="251012" y="74697"/>
                  <a:pt x="270457" y="77290"/>
                </a:cubicBezTo>
                <a:cubicBezTo>
                  <a:pt x="410803" y="96003"/>
                  <a:pt x="329687" y="81409"/>
                  <a:pt x="437882" y="103048"/>
                </a:cubicBezTo>
                <a:cubicBezTo>
                  <a:pt x="558085" y="98755"/>
                  <a:pt x="678431" y="97445"/>
                  <a:pt x="798490" y="90169"/>
                </a:cubicBezTo>
                <a:cubicBezTo>
                  <a:pt x="842989" y="87472"/>
                  <a:pt x="899818" y="64979"/>
                  <a:pt x="940158" y="51532"/>
                </a:cubicBezTo>
                <a:lnTo>
                  <a:pt x="978795" y="38653"/>
                </a:lnTo>
                <a:cubicBezTo>
                  <a:pt x="991674" y="30067"/>
                  <a:pt x="1003204" y="18992"/>
                  <a:pt x="1017431" y="12895"/>
                </a:cubicBezTo>
                <a:cubicBezTo>
                  <a:pt x="1049909" y="-1024"/>
                  <a:pt x="1056874" y="17"/>
                  <a:pt x="1081826" y="17"/>
                </a:cubicBez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 bwMode="auto">
          <a:xfrm>
            <a:off x="3464985" y="3264436"/>
            <a:ext cx="746975" cy="40009"/>
          </a:xfrm>
          <a:custGeom>
            <a:avLst/>
            <a:gdLst>
              <a:gd name="connsiteX0" fmla="*/ 0 w 746975"/>
              <a:gd name="connsiteY0" fmla="*/ 40009 h 40009"/>
              <a:gd name="connsiteX1" fmla="*/ 386366 w 746975"/>
              <a:gd name="connsiteY1" fmla="*/ 27130 h 40009"/>
              <a:gd name="connsiteX2" fmla="*/ 425003 w 746975"/>
              <a:gd name="connsiteY2" fmla="*/ 14251 h 40009"/>
              <a:gd name="connsiteX3" fmla="*/ 515155 w 746975"/>
              <a:gd name="connsiteY3" fmla="*/ 1372 h 40009"/>
              <a:gd name="connsiteX4" fmla="*/ 746975 w 746975"/>
              <a:gd name="connsiteY4" fmla="*/ 1372 h 4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975" h="40009">
                <a:moveTo>
                  <a:pt x="0" y="40009"/>
                </a:moveTo>
                <a:cubicBezTo>
                  <a:pt x="128789" y="35716"/>
                  <a:pt x="257742" y="34925"/>
                  <a:pt x="386366" y="27130"/>
                </a:cubicBezTo>
                <a:cubicBezTo>
                  <a:pt x="399917" y="26309"/>
                  <a:pt x="411691" y="16913"/>
                  <a:pt x="425003" y="14251"/>
                </a:cubicBezTo>
                <a:cubicBezTo>
                  <a:pt x="454769" y="8298"/>
                  <a:pt x="484823" y="2585"/>
                  <a:pt x="515155" y="1372"/>
                </a:cubicBezTo>
                <a:cubicBezTo>
                  <a:pt x="592367" y="-1716"/>
                  <a:pt x="669702" y="1372"/>
                  <a:pt x="746975" y="1372"/>
                </a:cubicBez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 bwMode="auto">
          <a:xfrm>
            <a:off x="1335565" y="3264436"/>
            <a:ext cx="798490" cy="0"/>
          </a:xfrm>
          <a:custGeom>
            <a:avLst/>
            <a:gdLst>
              <a:gd name="connsiteX0" fmla="*/ 0 w 798490"/>
              <a:gd name="connsiteY0" fmla="*/ 0 h 0"/>
              <a:gd name="connsiteX1" fmla="*/ 798490 w 79849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8490">
                <a:moveTo>
                  <a:pt x="0" y="0"/>
                </a:moveTo>
                <a:lnTo>
                  <a:pt x="798490" y="0"/>
                </a:ln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 bwMode="auto">
          <a:xfrm>
            <a:off x="1179971" y="2537138"/>
            <a:ext cx="785611" cy="64426"/>
          </a:xfrm>
          <a:custGeom>
            <a:avLst/>
            <a:gdLst>
              <a:gd name="connsiteX0" fmla="*/ 785611 w 785611"/>
              <a:gd name="connsiteY0" fmla="*/ 0 h 64426"/>
              <a:gd name="connsiteX1" fmla="*/ 244699 w 785611"/>
              <a:gd name="connsiteY1" fmla="*/ 25758 h 64426"/>
              <a:gd name="connsiteX2" fmla="*/ 167425 w 785611"/>
              <a:gd name="connsiteY2" fmla="*/ 38637 h 64426"/>
              <a:gd name="connsiteX3" fmla="*/ 77273 w 785611"/>
              <a:gd name="connsiteY3" fmla="*/ 51516 h 64426"/>
              <a:gd name="connsiteX4" fmla="*/ 0 w 785611"/>
              <a:gd name="connsiteY4" fmla="*/ 38637 h 64426"/>
              <a:gd name="connsiteX5" fmla="*/ 0 w 785611"/>
              <a:gd name="connsiteY5" fmla="*/ 25758 h 64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5611" h="64426">
                <a:moveTo>
                  <a:pt x="785611" y="0"/>
                </a:moveTo>
                <a:cubicBezTo>
                  <a:pt x="506942" y="34834"/>
                  <a:pt x="846875" y="-4351"/>
                  <a:pt x="244699" y="25758"/>
                </a:cubicBezTo>
                <a:cubicBezTo>
                  <a:pt x="218618" y="27062"/>
                  <a:pt x="193235" y="34666"/>
                  <a:pt x="167425" y="38637"/>
                </a:cubicBezTo>
                <a:cubicBezTo>
                  <a:pt x="137422" y="43253"/>
                  <a:pt x="107324" y="47223"/>
                  <a:pt x="77273" y="51516"/>
                </a:cubicBezTo>
                <a:cubicBezTo>
                  <a:pt x="34901" y="65639"/>
                  <a:pt x="37449" y="76085"/>
                  <a:pt x="0" y="38637"/>
                </a:cubicBezTo>
                <a:lnTo>
                  <a:pt x="0" y="25758"/>
                </a:ln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16305" y="2137629"/>
            <a:ext cx="4121841" cy="1870350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void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Button_Click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...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UpdateView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21" name="Explosion 1 20"/>
          <p:cNvSpPr/>
          <p:nvPr/>
        </p:nvSpPr>
        <p:spPr>
          <a:xfrm>
            <a:off x="1149061" y="1401548"/>
            <a:ext cx="1535737" cy="822540"/>
          </a:xfrm>
          <a:prstGeom prst="irregularSeal1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GB" dirty="0"/>
          </a:p>
        </p:txBody>
      </p:sp>
      <p:sp>
        <p:nvSpPr>
          <p:cNvPr id="22" name="Bent Arrow 21"/>
          <p:cNvSpPr/>
          <p:nvPr/>
        </p:nvSpPr>
        <p:spPr bwMode="auto">
          <a:xfrm rot="5400000">
            <a:off x="1057425" y="1713890"/>
            <a:ext cx="334949" cy="502570"/>
          </a:xfrm>
          <a:prstGeom prst="ben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48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Explaining </a:t>
            </a:r>
            <a:r>
              <a:rPr lang="en-US" dirty="0" err="1" smtClean="0"/>
              <a:t>Async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xplosion 1 3"/>
          <p:cNvSpPr/>
          <p:nvPr/>
        </p:nvSpPr>
        <p:spPr>
          <a:xfrm>
            <a:off x="1016305" y="4746410"/>
            <a:ext cx="1535737" cy="822540"/>
          </a:xfrm>
          <a:prstGeom prst="irregularSeal1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GB" dirty="0"/>
          </a:p>
        </p:txBody>
      </p:sp>
      <p:sp>
        <p:nvSpPr>
          <p:cNvPr id="27" name="TextBox 26"/>
          <p:cNvSpPr txBox="1"/>
          <p:nvPr/>
        </p:nvSpPr>
        <p:spPr>
          <a:xfrm>
            <a:off x="3666053" y="4101798"/>
            <a:ext cx="5298435" cy="2165777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err="1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async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/>
                <a:ea typeface="Calibri"/>
                <a:cs typeface="Times New Roman"/>
              </a:rPr>
              <a:t>Task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LoadImageAsync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</a:t>
            </a:r>
          </a:p>
          <a:p>
            <a:pPr>
              <a:lnSpc>
                <a:spcPct val="115000"/>
              </a:lnSpc>
            </a:pPr>
            <a:r>
              <a:rPr lang="pt-PT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// ...</a:t>
            </a: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smtClean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await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DownloadRemoteDataAsync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(...);</a:t>
            </a: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// ...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16305" y="2137629"/>
            <a:ext cx="4121841" cy="1870350"/>
          </a:xfrm>
          <a:prstGeom prst="rect">
            <a:avLst/>
          </a:prstGeom>
          <a:solidFill>
            <a:srgbClr val="002060"/>
          </a:solidFill>
        </p:spPr>
        <p:txBody>
          <a:bodyPr wrap="none" lIns="91440" tIns="91440" rIns="91440" bIns="9144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 err="1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async</a:t>
            </a:r>
            <a:r>
              <a:rPr lang="en-US" sz="2000" b="1" dirty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 void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Button_Click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...</a:t>
            </a:r>
            <a:r>
              <a:rPr lang="en-US" sz="2000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{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>
                <a:solidFill>
                  <a:srgbClr val="569CD6"/>
                </a:solidFill>
                <a:latin typeface="Consolas"/>
                <a:ea typeface="Calibri"/>
                <a:cs typeface="Times New Roman"/>
              </a:rPr>
              <a:t>await</a:t>
            </a:r>
            <a:r>
              <a:rPr lang="en-US" sz="2000" b="1" dirty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2000" b="1" dirty="0" err="1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LoadImageAsync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  <a:endParaRPr lang="en-US" sz="2800" b="1" dirty="0" smtClean="0"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  </a:t>
            </a:r>
            <a:r>
              <a:rPr lang="en-US" sz="2000" b="1" dirty="0" err="1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UpdateView</a:t>
            </a:r>
            <a:r>
              <a:rPr lang="en-US" sz="2000" b="1" dirty="0" smtClean="0">
                <a:solidFill>
                  <a:srgbClr val="C8C8C8"/>
                </a:solidFill>
                <a:latin typeface="Consolas"/>
                <a:ea typeface="Calibri"/>
                <a:cs typeface="Times New Roman"/>
              </a:rPr>
              <a:t>();</a:t>
            </a:r>
          </a:p>
          <a:p>
            <a:pPr>
              <a:lnSpc>
                <a:spcPct val="115000"/>
              </a:lnSpc>
            </a:pPr>
            <a:r>
              <a:rPr lang="pt-PT" sz="2000" b="1" dirty="0" smtClean="0">
                <a:solidFill>
                  <a:srgbClr val="C8C8C8"/>
                </a:solidFill>
                <a:effectLst/>
                <a:latin typeface="Consolas"/>
                <a:ea typeface="Calibri"/>
                <a:cs typeface="Times New Roman"/>
              </a:rPr>
              <a:t>}</a:t>
            </a:r>
            <a:endParaRPr lang="en-US" sz="2800" b="1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Explosion 1 6"/>
          <p:cNvSpPr/>
          <p:nvPr/>
        </p:nvSpPr>
        <p:spPr>
          <a:xfrm>
            <a:off x="1105121" y="1401548"/>
            <a:ext cx="1535737" cy="822540"/>
          </a:xfrm>
          <a:prstGeom prst="irregularSeal1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Click</a:t>
            </a:r>
            <a:endParaRPr lang="en-GB" dirty="0"/>
          </a:p>
        </p:txBody>
      </p:sp>
      <p:sp>
        <p:nvSpPr>
          <p:cNvPr id="8" name="U-Turn Arrow 7"/>
          <p:cNvSpPr/>
          <p:nvPr/>
        </p:nvSpPr>
        <p:spPr>
          <a:xfrm>
            <a:off x="180827" y="1554465"/>
            <a:ext cx="800308" cy="2714627"/>
          </a:xfrm>
          <a:prstGeom prst="uturnArrow">
            <a:avLst>
              <a:gd name="adj1" fmla="val 14706"/>
              <a:gd name="adj2" fmla="val 13603"/>
              <a:gd name="adj3" fmla="val 27942"/>
              <a:gd name="adj4" fmla="val 46875"/>
              <a:gd name="adj5" fmla="val 518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U-Turn Arrow 8"/>
          <p:cNvSpPr/>
          <p:nvPr/>
        </p:nvSpPr>
        <p:spPr>
          <a:xfrm rot="10800000">
            <a:off x="135573" y="3126090"/>
            <a:ext cx="800308" cy="2714627"/>
          </a:xfrm>
          <a:prstGeom prst="uturnArrow">
            <a:avLst>
              <a:gd name="adj1" fmla="val 14706"/>
              <a:gd name="adj2" fmla="val 13603"/>
              <a:gd name="adj3" fmla="val 27942"/>
              <a:gd name="adj4" fmla="val 46875"/>
              <a:gd name="adj5" fmla="val 518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-1331174" y="3497535"/>
            <a:ext cx="37338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/>
              <a:t>Message</a:t>
            </a:r>
            <a:r>
              <a:rPr lang="en-US" dirty="0" smtClean="0"/>
              <a:t> pump</a:t>
            </a:r>
            <a:endParaRPr lang="en-GB" dirty="0"/>
          </a:p>
        </p:txBody>
      </p:sp>
      <p:sp>
        <p:nvSpPr>
          <p:cNvPr id="11" name="Bent Arrow 10"/>
          <p:cNvSpPr/>
          <p:nvPr/>
        </p:nvSpPr>
        <p:spPr bwMode="auto">
          <a:xfrm rot="5400000">
            <a:off x="1062944" y="1751060"/>
            <a:ext cx="510090" cy="603367"/>
          </a:xfrm>
          <a:prstGeom prst="ben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Bent Arrow 11"/>
          <p:cNvSpPr/>
          <p:nvPr/>
        </p:nvSpPr>
        <p:spPr bwMode="auto">
          <a:xfrm rot="5400000">
            <a:off x="4451768" y="3168086"/>
            <a:ext cx="1283575" cy="918438"/>
          </a:xfrm>
          <a:prstGeom prst="bentArrow">
            <a:avLst>
              <a:gd name="adj1" fmla="val 18014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Bent Arrow 12"/>
          <p:cNvSpPr/>
          <p:nvPr/>
        </p:nvSpPr>
        <p:spPr bwMode="auto">
          <a:xfrm rot="5400000">
            <a:off x="1012341" y="5188272"/>
            <a:ext cx="539043" cy="601455"/>
          </a:xfrm>
          <a:prstGeom prst="ben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3998566" y="5438690"/>
            <a:ext cx="1762979" cy="804054"/>
          </a:xfrm>
          <a:prstGeom prst="roundRect">
            <a:avLst/>
          </a:prstGeom>
          <a:solidFill>
            <a:srgbClr val="0070C0">
              <a:alpha val="80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 smtClean="0">
                <a:solidFill>
                  <a:srgbClr val="4EC9B0"/>
                </a:solidFill>
                <a:latin typeface="+mj-lt"/>
                <a:ea typeface="Calibri"/>
                <a:cs typeface="Consolas" pitchFamily="49" charset="0"/>
              </a:rPr>
              <a:t>Task ...</a:t>
            </a:r>
            <a:r>
              <a:rPr lang="en-US" sz="2000" b="1" dirty="0" smtClean="0">
                <a:solidFill>
                  <a:srgbClr val="4EC9B0"/>
                </a:solidFill>
                <a:ea typeface="Calibri"/>
                <a:cs typeface="Consolas" pitchFamily="49" charset="0"/>
              </a:rPr>
              <a:t/>
            </a:r>
            <a:br>
              <a:rPr lang="en-US" sz="2000" b="1" dirty="0" smtClean="0">
                <a:solidFill>
                  <a:srgbClr val="4EC9B0"/>
                </a:solidFill>
                <a:ea typeface="Calibri"/>
                <a:cs typeface="Consolas" pitchFamily="49" charset="0"/>
              </a:rPr>
            </a:br>
            <a:r>
              <a:rPr lang="en-US" sz="1100" dirty="0" err="1" smtClean="0">
                <a:solidFill>
                  <a:schemeClr val="tx1">
                    <a:lumMod val="65000"/>
                  </a:schemeClr>
                </a:solidFill>
                <a:ea typeface="Calibri"/>
                <a:cs typeface="Consolas" pitchFamily="49" charset="0"/>
              </a:rPr>
              <a:t>DownloadRemoteDataAsync</a:t>
            </a:r>
            <a:endParaRPr lang="en-US" sz="3600" dirty="0">
              <a:solidFill>
                <a:schemeClr val="tx1">
                  <a:lumMod val="65000"/>
                </a:schemeClr>
              </a:solidFill>
              <a:ea typeface="Calibri"/>
              <a:cs typeface="Consolas" pitchFamily="49" charset="0"/>
            </a:endParaRPr>
          </a:p>
        </p:txBody>
      </p:sp>
      <p:sp>
        <p:nvSpPr>
          <p:cNvPr id="15" name="12-Point Star 14"/>
          <p:cNvSpPr/>
          <p:nvPr/>
        </p:nvSpPr>
        <p:spPr bwMode="auto">
          <a:xfrm>
            <a:off x="5138146" y="5374915"/>
            <a:ext cx="365760" cy="365760"/>
          </a:xfrm>
          <a:prstGeom prst="star12">
            <a:avLst/>
          </a:prstGeom>
          <a:solidFill>
            <a:srgbClr val="FF8C00">
              <a:alpha val="50196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Notched Right Arrow 15"/>
          <p:cNvSpPr/>
          <p:nvPr/>
        </p:nvSpPr>
        <p:spPr bwMode="auto">
          <a:xfrm rot="12767201">
            <a:off x="1441538" y="4242362"/>
            <a:ext cx="4069348" cy="306400"/>
          </a:xfrm>
          <a:prstGeom prst="notchedRightArrow">
            <a:avLst>
              <a:gd name="adj1" fmla="val 40328"/>
              <a:gd name="adj2" fmla="val 50000"/>
            </a:avLst>
          </a:pr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ounded Rectangle 16"/>
          <p:cNvSpPr/>
          <p:nvPr/>
        </p:nvSpPr>
        <p:spPr bwMode="auto">
          <a:xfrm>
            <a:off x="1918527" y="3309947"/>
            <a:ext cx="2058369" cy="804054"/>
          </a:xfrm>
          <a:prstGeom prst="roundRect">
            <a:avLst/>
          </a:prstGeom>
          <a:solidFill>
            <a:srgbClr val="0070C0">
              <a:alpha val="85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b="1" dirty="0" smtClean="0">
                <a:solidFill>
                  <a:srgbClr val="4EC9B0"/>
                </a:solidFill>
                <a:latin typeface="+mj-lt"/>
                <a:ea typeface="Calibri"/>
                <a:cs typeface="Consolas" pitchFamily="49" charset="0"/>
              </a:rPr>
              <a:t>Task ...</a:t>
            </a:r>
            <a:r>
              <a:rPr lang="en-US" sz="2000" b="1" dirty="0" smtClean="0">
                <a:solidFill>
                  <a:srgbClr val="4EC9B0"/>
                </a:solidFill>
                <a:ea typeface="Calibri"/>
                <a:cs typeface="Consolas" pitchFamily="49" charset="0"/>
              </a:rPr>
              <a:t/>
            </a:r>
            <a:br>
              <a:rPr lang="en-US" sz="2000" b="1" dirty="0" smtClean="0">
                <a:solidFill>
                  <a:srgbClr val="4EC9B0"/>
                </a:solidFill>
                <a:ea typeface="Calibri"/>
                <a:cs typeface="Consolas" pitchFamily="49" charset="0"/>
              </a:rPr>
            </a:br>
            <a:r>
              <a:rPr lang="en-US" dirty="0" err="1" smtClean="0">
                <a:solidFill>
                  <a:schemeClr val="tx1">
                    <a:lumMod val="65000"/>
                  </a:schemeClr>
                </a:solidFill>
                <a:ea typeface="Calibri"/>
                <a:cs typeface="Consolas" pitchFamily="49" charset="0"/>
              </a:rPr>
              <a:t>LoadImageAsync</a:t>
            </a:r>
            <a:endParaRPr lang="en-US" sz="3600" dirty="0">
              <a:solidFill>
                <a:schemeClr val="tx1">
                  <a:lumMod val="65000"/>
                </a:schemeClr>
              </a:solidFill>
              <a:ea typeface="Calibri"/>
              <a:cs typeface="Consolas" pitchFamily="49" charset="0"/>
            </a:endParaRPr>
          </a:p>
        </p:txBody>
      </p:sp>
      <p:sp>
        <p:nvSpPr>
          <p:cNvPr id="18" name="12-Point Star 17"/>
          <p:cNvSpPr/>
          <p:nvPr/>
        </p:nvSpPr>
        <p:spPr bwMode="auto">
          <a:xfrm>
            <a:off x="1638575" y="3134408"/>
            <a:ext cx="365760" cy="365760"/>
          </a:xfrm>
          <a:prstGeom prst="star12">
            <a:avLst/>
          </a:prstGeom>
          <a:solidFill>
            <a:srgbClr val="FF8C00">
              <a:alpha val="50196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Notched Right Arrow 18"/>
          <p:cNvSpPr/>
          <p:nvPr/>
        </p:nvSpPr>
        <p:spPr bwMode="auto">
          <a:xfrm rot="10800000">
            <a:off x="920653" y="3151350"/>
            <a:ext cx="863520" cy="306400"/>
          </a:xfrm>
          <a:prstGeom prst="notchedRightArrow">
            <a:avLst>
              <a:gd name="adj1" fmla="val 40328"/>
              <a:gd name="adj2" fmla="val 50000"/>
            </a:avLst>
          </a:pr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Explosion 1 19"/>
          <p:cNvSpPr/>
          <p:nvPr/>
        </p:nvSpPr>
        <p:spPr>
          <a:xfrm>
            <a:off x="4112186" y="5448178"/>
            <a:ext cx="1535737" cy="822540"/>
          </a:xfrm>
          <a:prstGeom prst="irregularSeal1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 smtClean="0"/>
              <a:t>Download</a:t>
            </a:r>
            <a:endParaRPr lang="en-GB" dirty="0"/>
          </a:p>
        </p:txBody>
      </p:sp>
      <p:sp>
        <p:nvSpPr>
          <p:cNvPr id="21" name="Notched Right Arrow 20"/>
          <p:cNvSpPr/>
          <p:nvPr/>
        </p:nvSpPr>
        <p:spPr bwMode="auto">
          <a:xfrm rot="21404848">
            <a:off x="1111898" y="5539141"/>
            <a:ext cx="4184675" cy="306400"/>
          </a:xfrm>
          <a:prstGeom prst="notchedRightArrow">
            <a:avLst>
              <a:gd name="adj1" fmla="val 40328"/>
              <a:gd name="adj2" fmla="val 50000"/>
            </a:avLst>
          </a:pr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Notched Right Arrow 21"/>
          <p:cNvSpPr/>
          <p:nvPr/>
        </p:nvSpPr>
        <p:spPr bwMode="auto">
          <a:xfrm rot="10800000">
            <a:off x="2049892" y="5378442"/>
            <a:ext cx="3252002" cy="306400"/>
          </a:xfrm>
          <a:prstGeom prst="notchedRightArrow">
            <a:avLst>
              <a:gd name="adj1" fmla="val 40328"/>
              <a:gd name="adj2" fmla="val 50000"/>
            </a:avLst>
          </a:pr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Explosion 1 22"/>
          <p:cNvSpPr/>
          <p:nvPr/>
        </p:nvSpPr>
        <p:spPr>
          <a:xfrm>
            <a:off x="2243398" y="3309947"/>
            <a:ext cx="1535737" cy="822540"/>
          </a:xfrm>
          <a:prstGeom prst="irregularSeal1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 err="1" smtClean="0"/>
              <a:t>LoadImage</a:t>
            </a:r>
            <a:endParaRPr lang="en-GB" dirty="0"/>
          </a:p>
        </p:txBody>
      </p:sp>
      <p:sp>
        <p:nvSpPr>
          <p:cNvPr id="24" name="Notched Right Arrow 23"/>
          <p:cNvSpPr/>
          <p:nvPr/>
        </p:nvSpPr>
        <p:spPr bwMode="auto">
          <a:xfrm rot="16550090">
            <a:off x="753799" y="4129893"/>
            <a:ext cx="1945162" cy="306400"/>
          </a:xfrm>
          <a:prstGeom prst="notchedRightArrow">
            <a:avLst>
              <a:gd name="adj1" fmla="val 40328"/>
              <a:gd name="adj2" fmla="val 50000"/>
            </a:avLst>
          </a:pr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Octagon 24"/>
          <p:cNvSpPr/>
          <p:nvPr/>
        </p:nvSpPr>
        <p:spPr>
          <a:xfrm>
            <a:off x="785267" y="1739250"/>
            <a:ext cx="182880" cy="182880"/>
          </a:xfrm>
          <a:prstGeom prst="octag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Notched Right Arrow 25"/>
          <p:cNvSpPr/>
          <p:nvPr/>
        </p:nvSpPr>
        <p:spPr bwMode="auto">
          <a:xfrm rot="5765654">
            <a:off x="728189" y="4081999"/>
            <a:ext cx="1442359" cy="306400"/>
          </a:xfrm>
          <a:prstGeom prst="notchedRightArrow">
            <a:avLst>
              <a:gd name="adj1" fmla="val 40328"/>
              <a:gd name="adj2" fmla="val 50000"/>
            </a:avLst>
          </a:pr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81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-0.00139 L 0.05382 0.00023 L 0.06319 0.01504 C 0.06354 0.02384 0.06389 0.0324 0.06424 0.04097 C 0.06441 0.07222 0.0625 0.15833 0.06267 0.18958 " pathEditMode="relative" rAng="0" ptsTypes="AAAAA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953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pat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6268 0.18958 L 0.4691 0.18356 L 0.48334 0.19722 C 0.48368 0.21041 0.48438 0.22407 0.48473 0.23727 C 0.48473 0.26088 0.48611 0.47477 0.48611 0.49884 " pathEditMode="relative" rAng="0" ptsTypes="AAAAA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63" y="1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594 0.49884 L 0.46285 0.52963 L 0.10243 0.21435 " pathEditMode="relative" rAng="0" ptsTypes="AAA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84" y="-1268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57 0.21342 L 0.00573 0.21574 L -0.00434 0.23379 C -0.00382 0.32083 -0.00173 0.33217 -0.00104 0.41921 " pathEditMode="relative" rAng="0" ptsTypes="AAAA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95" y="10278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0" presetClass="pat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4169 L 0.00209 0.50162 L 0.04462 0.50532 L 0.0599 0.51065 L 0.06285 0.54305 L 0.06389 0.56666 L -0.00191 0.55208 L -0.01423 0.57199 " pathEditMode="relative" rAng="0" ptsTypes="AAAAAAAA">
                                      <p:cBhvr>
                                        <p:cTn id="7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3" y="7755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xit" presetSubtype="2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0" presetClass="path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57 0.57199 L -0.04357 0.57546 L -0.06198 0.55023 L -0.0684 0.4875 L -0.0684 0.01412 L -0.0552 -0.02199 L -0.03038 -0.03079 L -0.01215 -0.02014 L -0.00156 0.02477 L 0.00122 0.08217 L -0.00017 0.29375 L 0.00122 0.31713 " pathEditMode="relative" rAng="0" ptsTypes="AAAAAAAAAAAA">
                                      <p:cBhvr>
                                        <p:cTn id="8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0" y="-2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"/>
                            </p:stCondLst>
                            <p:childTnLst>
                              <p:par>
                                <p:cTn id="92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85185E-6 L -0.41285 -0.00278 " pathEditMode="relative" rAng="0" ptsTypes="AA">
                                      <p:cBhvr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42" y="-139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3.7037E-7 L -0.41285 -0.00069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42" y="-46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50"/>
                            </p:stCondLst>
                            <p:childTnLst>
                              <p:par>
                                <p:cTn id="100" presetID="0" presetClass="pat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0.31713 C 0.00122 0.36736 -0.01354 0.49421 -3.33333E-6 0.54074 C 0.00799 0.57847 0.00539 0.56342 0.02726 0.58102 L 0.4882 0.54491 " pathEditMode="relative" rAng="0" ptsTypes="AAAA">
                                      <p:cBhvr>
                                        <p:cTn id="10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93" y="13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250"/>
                            </p:stCondLst>
                            <p:childTnLst>
                              <p:par>
                                <p:cTn id="10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82 0.5449 L 0.03698 0.54236 C 0.02709 0.54537 0.00105 0.55764 -0.00868 0.56088 " pathEditMode="relative" rAng="0" ptsTypes="AAA">
                                      <p:cBhvr>
                                        <p:cTn id="1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44" y="671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xit" presetSubtype="8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2" presetClass="exit" presetSubtype="4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42" presetClass="pat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16667E-6 -3.7037E-6 L -0.10052 0.26621 " pathEditMode="relative" rAng="0" ptsTypes="AA">
                                      <p:cBhvr>
                                        <p:cTn id="1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35" y="13310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42" presetClass="pat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77778E-7 -2.59259E-6 L -0.10642 0.26621 " pathEditMode="relative" rAng="0" ptsTypes="AA">
                                      <p:cBhvr>
                                        <p:cTn id="1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30" y="13310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0" presetClass="path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24 0.57199 L -0.03385 0.58148 L -0.06285 0.56643 L -0.07083 0.51366 C -0.07118 0.34491 -0.07153 0.17592 -0.07188 0.00717 L -0.06285 -0.01343 L -0.04306 -0.02662 L -0.01892 -0.025 L -0.00278 -0.0081 L 0.0066 0.01458 L 0.0066 0.4669 L 0.0316 0.48518 C 0.05191 0.48148 0.06181 0.49329 0.08212 0.48958 C 0.09392 0.38055 0.09149 0.32361 0.10347 0.21528 " pathEditMode="relative" rAng="0" ptsTypes="AAAAAAAAAAAAAA">
                                      <p:cBhvr>
                                        <p:cTn id="140" dur="1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3" y="-29468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43 0.21435 L 0.08351 0.49074 L 0.0283 0.51782 L -0.00364 0.54907 L -0.03298 0.57893 L -0.05955 0.56088 C -0.07152 0.54305 -0.0684 0.56389 -0.06944 0.52916 C -0.06979 0.42454 -0.06909 0.24699 -0.06944 0.14236 C -0.06909 0.09583 -0.06944 0.04583 -0.06875 -0.00093 L -0.04826 -0.025 L -0.02916 -0.03009 C -0.02465 -0.02454 -0.01406 -0.02477 -0.00972 -0.01898 C -0.00764 -0.00509 -0.00052 0.01458 0.00139 0.02847 C 0.00226 0.05046 -0.00104 0.07384 -0.00034 0.09583 C -0.00104 0.23773 0.00105 0.37824 -3.33333E-6 0.52014 " pathEditMode="relative" rAng="0" ptsTypes="AAAAAAAAAAAAAAA">
                                      <p:cBhvr>
                                        <p:cTn id="153" dur="2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94" y="5995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xit" presetSubtype="4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22" presetClass="exit" presetSubtype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4" grpId="2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7" grpId="2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0" grpId="2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3" grpId="2" animBg="1"/>
      <p:bldP spid="24" grpId="0" animBg="1"/>
      <p:bldP spid="24" grpId="1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6" grpId="0" animBg="1"/>
      <p:bldP spid="2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Demo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Async</a:t>
            </a:r>
            <a:r>
              <a:rPr lang="en-US" dirty="0"/>
              <a:t> UI app: </a:t>
            </a:r>
            <a:r>
              <a:rPr lang="en-US" dirty="0" err="1"/>
              <a:t>re-entrancy</a:t>
            </a:r>
            <a:r>
              <a:rPr lang="en-US" dirty="0"/>
              <a:t> and deadlock</a:t>
            </a:r>
          </a:p>
        </p:txBody>
      </p:sp>
    </p:spTree>
    <p:extLst>
      <p:ext uri="{BB962C8B-B14F-4D97-AF65-F5344CB8AC3E}">
        <p14:creationId xmlns:p14="http://schemas.microsoft.com/office/powerpoint/2010/main" val="72681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Demo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Async</a:t>
            </a:r>
            <a:r>
              <a:rPr lang="en-US" dirty="0"/>
              <a:t> </a:t>
            </a:r>
            <a:r>
              <a:rPr lang="en-US" dirty="0" smtClean="0"/>
              <a:t>console 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28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Demo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Async</a:t>
            </a:r>
            <a:r>
              <a:rPr lang="en-US" dirty="0"/>
              <a:t> </a:t>
            </a:r>
            <a:r>
              <a:rPr lang="en-US" dirty="0" smtClean="0"/>
              <a:t>unit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3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Source</a:t>
            </a:r>
            <a:r>
              <a:rPr lang="pt-PT" dirty="0"/>
              <a:t> </a:t>
            </a:r>
            <a:r>
              <a:rPr lang="pt-PT" dirty="0" err="1"/>
              <a:t>Code</a:t>
            </a:r>
            <a:r>
              <a:rPr lang="pt-PT" dirty="0"/>
              <a:t> </a:t>
            </a:r>
            <a:r>
              <a:rPr lang="pt-PT" dirty="0" err="1"/>
              <a:t>Caller</a:t>
            </a:r>
            <a:r>
              <a:rPr lang="pt-PT" dirty="0"/>
              <a:t> ID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645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Source</a:t>
            </a:r>
            <a:r>
              <a:rPr lang="pt-PT" dirty="0" smtClean="0"/>
              <a:t> </a:t>
            </a:r>
            <a:r>
              <a:rPr lang="pt-PT" dirty="0" err="1" smtClean="0"/>
              <a:t>Code</a:t>
            </a:r>
            <a:r>
              <a:rPr lang="pt-PT" dirty="0" smtClean="0"/>
              <a:t> </a:t>
            </a:r>
            <a:r>
              <a:rPr lang="pt-PT" dirty="0" err="1" smtClean="0"/>
              <a:t>Caller</a:t>
            </a:r>
            <a:r>
              <a:rPr lang="pt-PT" dirty="0" smtClean="0"/>
              <a:t> ID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 smtClean="0"/>
              <a:t>CallerFilePathAttribute</a:t>
            </a:r>
            <a:endParaRPr lang="pt-PT" dirty="0" smtClean="0"/>
          </a:p>
          <a:p>
            <a:pPr lvl="1"/>
            <a:r>
              <a:rPr lang="en-US" dirty="0"/>
              <a:t>Allows you to obtain the full path of the source file that contains the caller. This is the file path at the time of compile</a:t>
            </a:r>
            <a:r>
              <a:rPr lang="en-US" dirty="0" smtClean="0"/>
              <a:t>.</a:t>
            </a:r>
          </a:p>
          <a:p>
            <a:pPr lvl="2"/>
            <a:r>
              <a:rPr lang="en-US" sz="1400" dirty="0">
                <a:hlinkClick r:id="rId2"/>
              </a:rPr>
              <a:t>http://</a:t>
            </a:r>
            <a:r>
              <a:rPr lang="en-US" sz="1400" dirty="0" smtClean="0">
                <a:hlinkClick r:id="rId2"/>
              </a:rPr>
              <a:t>msdn.microsoft.com/library/system.runtime.compilerservices.callerfilepathattribute.aspx</a:t>
            </a:r>
            <a:endParaRPr lang="en-US" dirty="0"/>
          </a:p>
          <a:p>
            <a:r>
              <a:rPr lang="pt-PT" dirty="0" err="1" smtClean="0"/>
              <a:t>CallerLineNumberAttribute</a:t>
            </a:r>
            <a:endParaRPr lang="pt-PT" dirty="0" smtClean="0"/>
          </a:p>
          <a:p>
            <a:pPr lvl="1"/>
            <a:r>
              <a:rPr lang="en-US" dirty="0"/>
              <a:t>Allows you to obtain the line number in the source file at which the method is called</a:t>
            </a:r>
            <a:r>
              <a:rPr lang="en-US" dirty="0" smtClean="0"/>
              <a:t>.</a:t>
            </a:r>
            <a:endParaRPr lang="en-US" dirty="0"/>
          </a:p>
          <a:p>
            <a:pPr lvl="2"/>
            <a:r>
              <a:rPr lang="en-US" sz="1400" dirty="0" smtClean="0">
                <a:hlinkClick r:id="rId3"/>
              </a:rPr>
              <a:t>http://msdn.microsoft.com/library/system.runtime.compilerservices.callerlinenumberattribute.aspx</a:t>
            </a:r>
            <a:endParaRPr lang="en-US" dirty="0" smtClean="0"/>
          </a:p>
          <a:p>
            <a:r>
              <a:rPr lang="pt-PT" dirty="0" err="1" smtClean="0"/>
              <a:t>CallerMemberNameAttribute</a:t>
            </a:r>
            <a:endParaRPr lang="pt-PT" dirty="0" smtClean="0"/>
          </a:p>
          <a:p>
            <a:pPr lvl="1"/>
            <a:r>
              <a:rPr lang="en-US" dirty="0"/>
              <a:t>Allows you to obtain the method or property name of the caller to the method</a:t>
            </a:r>
            <a:r>
              <a:rPr lang="en-US" dirty="0" smtClean="0"/>
              <a:t>.</a:t>
            </a:r>
            <a:endParaRPr lang="en-US" dirty="0"/>
          </a:p>
          <a:p>
            <a:pPr lvl="2"/>
            <a:r>
              <a:rPr lang="en-US" sz="1400" dirty="0" smtClean="0">
                <a:hlinkClick r:id="rId4"/>
              </a:rPr>
              <a:t>http://msdn.microsoft.com/library/system.runtime.compilerservices.callermembernameattribute.aspx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4025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Source</a:t>
            </a:r>
            <a:r>
              <a:rPr lang="pt-PT" dirty="0"/>
              <a:t> </a:t>
            </a:r>
            <a:r>
              <a:rPr lang="pt-PT" dirty="0" err="1"/>
              <a:t>Code</a:t>
            </a:r>
            <a:r>
              <a:rPr lang="pt-PT" dirty="0"/>
              <a:t> </a:t>
            </a:r>
            <a:r>
              <a:rPr lang="pt-PT" dirty="0" err="1"/>
              <a:t>Caller</a:t>
            </a:r>
            <a:r>
              <a:rPr lang="pt-PT" dirty="0"/>
              <a:t> </a:t>
            </a:r>
            <a:r>
              <a:rPr lang="pt-PT" dirty="0" smtClean="0"/>
              <a:t>ID - </a:t>
            </a:r>
            <a:r>
              <a:rPr lang="pt-PT" dirty="0" err="1" smtClean="0"/>
              <a:t>Examples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TextBox 4"/>
          <p:cNvSpPr txBox="1"/>
          <p:nvPr/>
        </p:nvSpPr>
        <p:spPr>
          <a:xfrm>
            <a:off x="1781690" y="1516429"/>
            <a:ext cx="5580620" cy="44012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static void </a:t>
            </a:r>
            <a:r>
              <a:rPr lang="en-US" sz="2000" dirty="0" err="1"/>
              <a:t>TraceMessage</a:t>
            </a:r>
            <a:r>
              <a:rPr lang="en-US" sz="2000" dirty="0"/>
              <a:t>(</a:t>
            </a:r>
          </a:p>
          <a:p>
            <a:r>
              <a:rPr lang="en-US" sz="2000" dirty="0"/>
              <a:t>    </a:t>
            </a:r>
            <a:r>
              <a:rPr lang="en-US" sz="2000" dirty="0">
                <a:solidFill>
                  <a:srgbClr val="0000FF"/>
                </a:solidFill>
              </a:rPr>
              <a:t>string</a:t>
            </a:r>
            <a:r>
              <a:rPr lang="en-US" sz="2000" dirty="0"/>
              <a:t> message,</a:t>
            </a:r>
          </a:p>
          <a:p>
            <a:r>
              <a:rPr lang="en-US" sz="2000" dirty="0"/>
              <a:t>    [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CallerMemberName</a:t>
            </a:r>
            <a:r>
              <a:rPr lang="en-US" sz="2000" dirty="0"/>
              <a:t>] string </a:t>
            </a:r>
            <a:r>
              <a:rPr lang="en-US" sz="2000" dirty="0" err="1"/>
              <a:t>memberName</a:t>
            </a:r>
            <a:r>
              <a:rPr lang="en-US" sz="2000" dirty="0"/>
              <a:t> = "",</a:t>
            </a:r>
          </a:p>
          <a:p>
            <a:r>
              <a:rPr lang="en-US" sz="2000" dirty="0"/>
              <a:t>    [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CallerFilePath</a:t>
            </a:r>
            <a:r>
              <a:rPr lang="en-US" sz="2000" dirty="0"/>
              <a:t>] string </a:t>
            </a:r>
            <a:r>
              <a:rPr lang="en-US" sz="2000" dirty="0" err="1"/>
              <a:t>sourceFilePath</a:t>
            </a:r>
            <a:r>
              <a:rPr lang="en-US" sz="2000" dirty="0"/>
              <a:t> = "",</a:t>
            </a:r>
          </a:p>
          <a:p>
            <a:r>
              <a:rPr lang="en-US" sz="2000" dirty="0"/>
              <a:t>    [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CallerLineNumber</a:t>
            </a:r>
            <a:r>
              <a:rPr lang="en-US" sz="2000" dirty="0"/>
              <a:t>]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sourceLineNumber</a:t>
            </a:r>
            <a:r>
              <a:rPr lang="en-US" sz="2000" dirty="0"/>
              <a:t> = 0)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Trace.WriteLine</a:t>
            </a:r>
            <a:r>
              <a:rPr lang="en-US" sz="2000" dirty="0"/>
              <a:t>(</a:t>
            </a:r>
          </a:p>
          <a:p>
            <a:r>
              <a:rPr lang="en-US" sz="2000" dirty="0"/>
              <a:t>        </a:t>
            </a:r>
            <a:r>
              <a:rPr lang="en-US" sz="2000" dirty="0" err="1">
                <a:solidFill>
                  <a:srgbClr val="0000FF"/>
                </a:solidFill>
              </a:rPr>
              <a:t>string</a:t>
            </a:r>
            <a:r>
              <a:rPr lang="en-US" sz="2000" dirty="0" err="1"/>
              <a:t>.Format</a:t>
            </a:r>
            <a:r>
              <a:rPr lang="en-US" sz="2000" dirty="0"/>
              <a:t>(</a:t>
            </a:r>
          </a:p>
          <a:p>
            <a:r>
              <a:rPr lang="en-US" sz="2000" dirty="0"/>
              <a:t>            "{0} at {1} in {2}:line {3}",</a:t>
            </a:r>
          </a:p>
          <a:p>
            <a:r>
              <a:rPr lang="en-US" sz="2000" dirty="0"/>
              <a:t>            message,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memberName</a:t>
            </a:r>
            <a:r>
              <a:rPr lang="en-US" sz="2000" dirty="0"/>
              <a:t>,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sourceFilePath</a:t>
            </a:r>
            <a:r>
              <a:rPr lang="en-US" sz="2000" dirty="0"/>
              <a:t>,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sourceLineNumber</a:t>
            </a:r>
            <a:r>
              <a:rPr lang="en-US" sz="2000" dirty="0"/>
              <a:t>));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637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Source</a:t>
            </a:r>
            <a:r>
              <a:rPr lang="pt-PT" dirty="0"/>
              <a:t> </a:t>
            </a:r>
            <a:r>
              <a:rPr lang="pt-PT" dirty="0" err="1"/>
              <a:t>Code</a:t>
            </a:r>
            <a:r>
              <a:rPr lang="pt-PT" dirty="0"/>
              <a:t> </a:t>
            </a:r>
            <a:r>
              <a:rPr lang="pt-PT" dirty="0" err="1"/>
              <a:t>Caller</a:t>
            </a:r>
            <a:r>
              <a:rPr lang="pt-PT" dirty="0"/>
              <a:t> </a:t>
            </a:r>
            <a:r>
              <a:rPr lang="pt-PT" dirty="0" smtClean="0"/>
              <a:t>ID - </a:t>
            </a:r>
            <a:r>
              <a:rPr lang="pt-PT" dirty="0" err="1" smtClean="0"/>
              <a:t>Examples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TextBox 4"/>
          <p:cNvSpPr txBox="1"/>
          <p:nvPr/>
        </p:nvSpPr>
        <p:spPr>
          <a:xfrm>
            <a:off x="251520" y="1196752"/>
            <a:ext cx="8640960" cy="507831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private string </a:t>
            </a:r>
            <a:r>
              <a:rPr lang="en-US" dirty="0"/>
              <a:t>field;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public string </a:t>
            </a:r>
            <a:r>
              <a:rPr lang="en-US" dirty="0"/>
              <a:t>Property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smtClean="0">
                <a:solidFill>
                  <a:srgbClr val="0000FF"/>
                </a:solidFill>
              </a:rPr>
              <a:t>get</a:t>
            </a:r>
            <a:r>
              <a:rPr lang="en-US" dirty="0" smtClean="0"/>
              <a:t> { </a:t>
            </a:r>
            <a:r>
              <a:rPr lang="en-US" dirty="0" smtClean="0">
                <a:solidFill>
                  <a:srgbClr val="0000FF"/>
                </a:solidFill>
              </a:rPr>
              <a:t>return </a:t>
            </a:r>
            <a:r>
              <a:rPr lang="en-US" dirty="0" err="1">
                <a:solidFill>
                  <a:srgbClr val="0000FF"/>
                </a:solidFill>
              </a:rPr>
              <a:t>this.</a:t>
            </a:r>
            <a:r>
              <a:rPr lang="en-US" dirty="0" err="1"/>
              <a:t>field</a:t>
            </a:r>
            <a:r>
              <a:rPr lang="en-US" dirty="0" smtClean="0"/>
              <a:t>; }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>
                <a:solidFill>
                  <a:srgbClr val="0000FF"/>
                </a:solidFill>
              </a:rPr>
              <a:t>set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>
                <a:solidFill>
                  <a:srgbClr val="0000FF"/>
                </a:solidFill>
              </a:rPr>
              <a:t>if</a:t>
            </a:r>
            <a:r>
              <a:rPr lang="en-US" dirty="0"/>
              <a:t> (</a:t>
            </a:r>
            <a:r>
              <a:rPr lang="en-US" dirty="0" err="1">
                <a:solidFill>
                  <a:srgbClr val="0000FF"/>
                </a:solidFill>
              </a:rPr>
              <a:t>this</a:t>
            </a:r>
            <a:r>
              <a:rPr lang="en-US" dirty="0" err="1"/>
              <a:t>.field</a:t>
            </a:r>
            <a:r>
              <a:rPr lang="en-US" dirty="0"/>
              <a:t> != </a:t>
            </a:r>
            <a:r>
              <a:rPr lang="en-US" dirty="0" smtClean="0">
                <a:solidFill>
                  <a:srgbClr val="0000FF"/>
                </a:solidFill>
              </a:rPr>
              <a:t>value</a:t>
            </a:r>
            <a:r>
              <a:rPr lang="en-US" dirty="0"/>
              <a:t>)</a:t>
            </a:r>
            <a:endParaRPr lang="en-US" dirty="0">
              <a:ln>
                <a:solidFill>
                  <a:sysClr val="windowText" lastClr="000000"/>
                </a:solidFill>
              </a:ln>
            </a:endParaRP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>
                <a:solidFill>
                  <a:srgbClr val="0000FF"/>
                </a:solidFill>
              </a:rPr>
              <a:t>this</a:t>
            </a:r>
            <a:r>
              <a:rPr lang="en-US" dirty="0" err="1"/>
              <a:t>.field</a:t>
            </a:r>
            <a:r>
              <a:rPr lang="en-US" dirty="0"/>
              <a:t> = </a:t>
            </a:r>
            <a:r>
              <a:rPr lang="en-US" dirty="0">
                <a:solidFill>
                  <a:srgbClr val="0000FF"/>
                </a:solidFill>
              </a:rPr>
              <a:t>value</a:t>
            </a:r>
            <a:r>
              <a:rPr lang="en-US" dirty="0"/>
              <a:t>;</a:t>
            </a:r>
          </a:p>
          <a:p>
            <a:r>
              <a:rPr lang="en-US" dirty="0"/>
              <a:t>            </a:t>
            </a:r>
            <a:r>
              <a:rPr lang="en-US" dirty="0" err="1">
                <a:solidFill>
                  <a:srgbClr val="0000FF"/>
                </a:solidFill>
              </a:rPr>
              <a:t>this</a:t>
            </a:r>
            <a:r>
              <a:rPr lang="en-US" dirty="0" err="1"/>
              <a:t>.NotifyPropertyChanged</a:t>
            </a:r>
            <a:r>
              <a:rPr lang="en-US" dirty="0"/>
              <a:t>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0000FF"/>
                </a:solidFill>
              </a:rPr>
              <a:t>protected </a:t>
            </a:r>
            <a:r>
              <a:rPr lang="en-US" dirty="0">
                <a:solidFill>
                  <a:srgbClr val="0000FF"/>
                </a:solidFill>
              </a:rPr>
              <a:t>void </a:t>
            </a:r>
            <a:r>
              <a:rPr lang="en-US" dirty="0" err="1"/>
              <a:t>NotifyPropertyChanged</a:t>
            </a:r>
            <a:r>
              <a:rPr lang="en-US" dirty="0"/>
              <a:t>([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CallerMemberName</a:t>
            </a:r>
            <a:r>
              <a:rPr lang="en-US" dirty="0"/>
              <a:t>] </a:t>
            </a:r>
            <a:r>
              <a:rPr lang="en-US" dirty="0">
                <a:solidFill>
                  <a:srgbClr val="0000FF"/>
                </a:solidFill>
              </a:rPr>
              <a:t>string</a:t>
            </a:r>
            <a:r>
              <a:rPr lang="en-US" dirty="0"/>
              <a:t> </a:t>
            </a:r>
            <a:r>
              <a:rPr lang="en-US" dirty="0" err="1"/>
              <a:t>propertyName</a:t>
            </a:r>
            <a:r>
              <a:rPr lang="en-US" dirty="0"/>
              <a:t> = "")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6"/>
                </a:solidFill>
              </a:rPr>
              <a:t>// </a:t>
            </a:r>
            <a:r>
              <a:rPr lang="en-US" dirty="0" smtClean="0">
                <a:solidFill>
                  <a:schemeClr val="accent6"/>
                </a:solidFill>
              </a:rPr>
              <a:t>…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901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Breaking</a:t>
            </a:r>
            <a:r>
              <a:rPr lang="pt-PT" dirty="0"/>
              <a:t> </a:t>
            </a:r>
            <a:r>
              <a:rPr lang="pt-PT" dirty="0" err="1"/>
              <a:t>Changes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675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Breaking</a:t>
            </a:r>
            <a:r>
              <a:rPr lang="pt-PT" dirty="0" smtClean="0"/>
              <a:t> </a:t>
            </a:r>
            <a:r>
              <a:rPr lang="pt-PT" dirty="0" err="1" smtClean="0"/>
              <a:t>Changes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use the iteration variable of a </a:t>
            </a:r>
            <a:r>
              <a:rPr lang="en-US" b="1" dirty="0" err="1"/>
              <a:t>foreach</a:t>
            </a:r>
            <a:r>
              <a:rPr lang="en-US" dirty="0"/>
              <a:t> statement in a lambda expression that’s contained in the body of the loop</a:t>
            </a:r>
            <a:r>
              <a:rPr lang="en-US" dirty="0" smtClean="0"/>
              <a:t>.</a:t>
            </a:r>
          </a:p>
          <a:p>
            <a:r>
              <a:rPr lang="en-US" dirty="0"/>
              <a:t>You can use the iteration variable of a </a:t>
            </a:r>
            <a:r>
              <a:rPr lang="en-US" b="1" dirty="0" err="1"/>
              <a:t>foreach</a:t>
            </a:r>
            <a:r>
              <a:rPr lang="en-US" dirty="0"/>
              <a:t> statement in a LINQ expression that’s contained in the body of the loop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Overload resolution has been improved for calls that use named arguments to access methods that contain </a:t>
            </a:r>
            <a:r>
              <a:rPr lang="en-US" dirty="0" err="1"/>
              <a:t>params</a:t>
            </a:r>
            <a:r>
              <a:rPr lang="en-US" dirty="0"/>
              <a:t> parameters.</a:t>
            </a:r>
          </a:p>
          <a:p>
            <a:r>
              <a:rPr lang="en-US" dirty="0"/>
              <a:t>Overload resolution is improved for calls where the algorithm must choose between a </a:t>
            </a:r>
            <a:r>
              <a:rPr lang="en-US" b="1" dirty="0" err="1"/>
              <a:t>Func</a:t>
            </a:r>
            <a:r>
              <a:rPr lang="en-US" b="1" dirty="0"/>
              <a:t>&lt;object&gt; </a:t>
            </a:r>
            <a:r>
              <a:rPr lang="en-US" dirty="0"/>
              <a:t>parameter and a </a:t>
            </a:r>
            <a:r>
              <a:rPr lang="en-US" b="1" dirty="0" err="1"/>
              <a:t>Func</a:t>
            </a:r>
            <a:r>
              <a:rPr lang="en-US" dirty="0"/>
              <a:t> parameter that has a different type parameter (e.g., </a:t>
            </a:r>
            <a:r>
              <a:rPr lang="en-US" b="1" dirty="0"/>
              <a:t>string</a:t>
            </a:r>
            <a:r>
              <a:rPr lang="en-US" dirty="0"/>
              <a:t> or </a:t>
            </a:r>
            <a:r>
              <a:rPr lang="en-US" b="1" dirty="0" err="1"/>
              <a:t>int</a:t>
            </a:r>
            <a:r>
              <a:rPr lang="en-US" b="1" dirty="0"/>
              <a:t>?</a:t>
            </a:r>
            <a:r>
              <a:rPr lang="en-US" dirty="0"/>
              <a:t>) for a </a:t>
            </a:r>
            <a:r>
              <a:rPr lang="en-US" b="1" dirty="0" err="1"/>
              <a:t>Func</a:t>
            </a:r>
            <a:r>
              <a:rPr lang="en-US" b="1" dirty="0"/>
              <a:t>&lt;dynamic&gt;</a:t>
            </a:r>
            <a:r>
              <a:rPr lang="en-US" dirty="0"/>
              <a:t> argument.</a:t>
            </a:r>
          </a:p>
          <a:p>
            <a:r>
              <a:rPr lang="en-US" dirty="0" smtClean="0"/>
              <a:t>Side </a:t>
            </a:r>
            <a:r>
              <a:rPr lang="en-US" dirty="0"/>
              <a:t>effects from named and positional arguments in a method call now occur from left to right in the argument list.</a:t>
            </a:r>
          </a:p>
          <a:p>
            <a:pPr marL="0" indent="0" algn="r">
              <a:buNone/>
            </a:pPr>
            <a:r>
              <a:rPr lang="en-US" dirty="0" smtClean="0">
                <a:hlinkClick r:id="rId3" tooltip="Visual C# Breaking Changes in Visual Studio 2012"/>
              </a:rPr>
              <a:t>http://msdn.microsoft.com/library/hh678682(v=vs.110).aspx</a:t>
            </a:r>
            <a:endParaRPr lang="en-US" dirty="0" smtClean="0"/>
          </a:p>
          <a:p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410129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Resources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887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Resources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PT" dirty="0" smtClean="0"/>
              <a:t>C# </a:t>
            </a:r>
            <a:r>
              <a:rPr lang="pt-PT" dirty="0" err="1" smtClean="0"/>
              <a:t>Reference</a:t>
            </a:r>
            <a:endParaRPr lang="pt-PT" dirty="0" smtClean="0"/>
          </a:p>
          <a:p>
            <a:pPr lvl="1"/>
            <a:r>
              <a:rPr lang="pt-PT" dirty="0">
                <a:hlinkClick r:id="rId2" tooltip="C# Reference"/>
              </a:rPr>
              <a:t>http://</a:t>
            </a:r>
            <a:r>
              <a:rPr lang="pt-PT" dirty="0" smtClean="0">
                <a:hlinkClick r:id="rId2" tooltip="C# Reference"/>
              </a:rPr>
              <a:t>msdn.microsoft.com/library/618ayhy6.aspx</a:t>
            </a:r>
            <a:endParaRPr lang="pt-PT" dirty="0" smtClean="0"/>
          </a:p>
          <a:p>
            <a:r>
              <a:rPr lang="en-US" dirty="0" smtClean="0"/>
              <a:t>Breaking </a:t>
            </a:r>
            <a:r>
              <a:rPr lang="en-US" dirty="0"/>
              <a:t>Changes in </a:t>
            </a:r>
            <a:r>
              <a:rPr lang="en-US" dirty="0" smtClean="0"/>
              <a:t>C# 5.0</a:t>
            </a:r>
          </a:p>
          <a:p>
            <a:pPr lvl="1"/>
            <a:r>
              <a:rPr lang="pt-PT" dirty="0">
                <a:hlinkClick r:id="rId3" tooltip="Visual C# Breaking Changes in Visual Studio 2012"/>
              </a:rPr>
              <a:t>http://msdn.microsoft.com/library/hh678682(v=vs.110).</a:t>
            </a:r>
            <a:r>
              <a:rPr lang="pt-PT" dirty="0" smtClean="0">
                <a:hlinkClick r:id="rId3" tooltip="Visual C# Breaking Changes in Visual Studio 2012"/>
              </a:rPr>
              <a:t>aspx</a:t>
            </a:r>
            <a:endParaRPr lang="pt-PT" dirty="0" smtClean="0"/>
          </a:p>
          <a:p>
            <a:r>
              <a:rPr lang="pt-PT" dirty="0"/>
              <a:t>.NET Framework 4.5</a:t>
            </a:r>
            <a:endParaRPr lang="pt-PT" dirty="0" smtClean="0"/>
          </a:p>
          <a:p>
            <a:pPr lvl="1"/>
            <a:r>
              <a:rPr lang="pt-PT" u="sng" dirty="0" smtClean="0">
                <a:hlinkClick r:id="rId4" tooltip=".NET Framework 4.5"/>
              </a:rPr>
              <a:t>http://msdn.microsoft.com/library/vstudio/w0x726c2(v=vs.110).aspx</a:t>
            </a:r>
            <a:endParaRPr lang="pt-PT" u="sng" dirty="0" smtClean="0"/>
          </a:p>
          <a:p>
            <a:r>
              <a:rPr lang="pt-PT" dirty="0" err="1"/>
              <a:t>Task</a:t>
            </a:r>
            <a:r>
              <a:rPr lang="pt-PT" dirty="0"/>
              <a:t> </a:t>
            </a:r>
            <a:r>
              <a:rPr lang="pt-PT" dirty="0" err="1"/>
              <a:t>Parallel</a:t>
            </a:r>
            <a:r>
              <a:rPr lang="pt-PT" dirty="0"/>
              <a:t> </a:t>
            </a:r>
            <a:r>
              <a:rPr lang="pt-PT" dirty="0" err="1"/>
              <a:t>Library</a:t>
            </a:r>
            <a:r>
              <a:rPr lang="pt-PT" dirty="0"/>
              <a:t> (TPL)</a:t>
            </a:r>
            <a:endParaRPr lang="pt-PT" dirty="0" smtClean="0"/>
          </a:p>
          <a:p>
            <a:pPr lvl="1"/>
            <a:r>
              <a:rPr lang="pt-PT" u="sng" dirty="0" smtClean="0">
                <a:hlinkClick r:id="rId5" tooltip="Task Parallel Library (TPL)"/>
              </a:rPr>
              <a:t>http://msdn.microsoft.com/library/vstudio/dd460717.aspx</a:t>
            </a:r>
            <a:endParaRPr lang="pt-PT" u="sng" dirty="0" smtClean="0"/>
          </a:p>
          <a:p>
            <a:r>
              <a:rPr lang="en-US" dirty="0"/>
              <a:t>Asynchronous Programming with </a:t>
            </a:r>
            <a:r>
              <a:rPr lang="en-US" dirty="0" err="1"/>
              <a:t>Async</a:t>
            </a:r>
            <a:r>
              <a:rPr lang="en-US" dirty="0"/>
              <a:t> and Await (C# and Visual Basic)</a:t>
            </a:r>
            <a:endParaRPr lang="pt-PT" dirty="0" smtClean="0"/>
          </a:p>
          <a:p>
            <a:pPr lvl="1"/>
            <a:r>
              <a:rPr lang="en-US" u="sng" dirty="0" smtClean="0">
                <a:hlinkClick r:id="rId6" tooltip="Asynchronous Programming with Async and Await (C# and Visual Basic)"/>
              </a:rPr>
              <a:t>http://msdn.microsoft.com/library/hh191443.aspx</a:t>
            </a:r>
            <a:endParaRPr lang="en-US" u="sng" dirty="0" smtClean="0"/>
          </a:p>
          <a:p>
            <a:r>
              <a:rPr lang="pt-PT" dirty="0" err="1"/>
              <a:t>Task-based</a:t>
            </a:r>
            <a:r>
              <a:rPr lang="pt-PT" dirty="0"/>
              <a:t> </a:t>
            </a:r>
            <a:r>
              <a:rPr lang="pt-PT" dirty="0" err="1"/>
              <a:t>Asynchronous</a:t>
            </a:r>
            <a:r>
              <a:rPr lang="pt-PT" dirty="0"/>
              <a:t> </a:t>
            </a:r>
            <a:r>
              <a:rPr lang="pt-PT" dirty="0" err="1"/>
              <a:t>Pattern</a:t>
            </a:r>
            <a:endParaRPr lang="pt-PT" dirty="0" smtClean="0"/>
          </a:p>
          <a:p>
            <a:pPr lvl="1"/>
            <a:r>
              <a:rPr lang="pt-PT" u="sng" dirty="0" smtClean="0">
                <a:hlinkClick r:id="rId6" tooltip="Task-based Asynchronous Pattern"/>
              </a:rPr>
              <a:t>http://msdn.microsoft.com/library/hh191443.aspx</a:t>
            </a:r>
            <a:endParaRPr lang="pt-PT" dirty="0" smtClean="0"/>
          </a:p>
          <a:p>
            <a:pPr lvl="1"/>
            <a:endParaRPr lang="pt-PT" dirty="0" smtClean="0"/>
          </a:p>
          <a:p>
            <a:pPr lvl="1"/>
            <a:endParaRPr lang="pt-PT" dirty="0" smtClean="0"/>
          </a:p>
        </p:txBody>
      </p:sp>
    </p:spTree>
    <p:extLst>
      <p:ext uri="{BB962C8B-B14F-4D97-AF65-F5344CB8AC3E}">
        <p14:creationId xmlns:p14="http://schemas.microsoft.com/office/powerpoint/2010/main" val="407359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Resources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Task.Run</a:t>
            </a:r>
            <a:r>
              <a:rPr lang="pt-PT" dirty="0"/>
              <a:t> </a:t>
            </a:r>
            <a:r>
              <a:rPr lang="pt-PT" dirty="0" err="1"/>
              <a:t>vs</a:t>
            </a:r>
            <a:r>
              <a:rPr lang="pt-PT" dirty="0"/>
              <a:t> </a:t>
            </a:r>
            <a:r>
              <a:rPr lang="pt-PT" dirty="0" err="1"/>
              <a:t>Task.Factory.StartNew</a:t>
            </a:r>
            <a:endParaRPr lang="pt-PT" dirty="0" smtClean="0"/>
          </a:p>
          <a:p>
            <a:pPr lvl="1"/>
            <a:r>
              <a:rPr lang="en-US" u="sng" dirty="0" smtClean="0">
                <a:hlinkClick r:id="rId2" tooltip="Task.Run vs Task.Factory.StartNew"/>
              </a:rPr>
              <a:t>http://blogs.msdn.com/b/pfxteam/archive/2011/10/24/10229468.aspx</a:t>
            </a:r>
            <a:endParaRPr lang="pt-PT" dirty="0" smtClean="0"/>
          </a:p>
          <a:p>
            <a:r>
              <a:rPr lang="en-US" dirty="0"/>
              <a:t>An </a:t>
            </a:r>
            <a:r>
              <a:rPr lang="en-US" dirty="0" err="1"/>
              <a:t>Async</a:t>
            </a:r>
            <a:r>
              <a:rPr lang="en-US" dirty="0"/>
              <a:t> Premier</a:t>
            </a:r>
            <a:endParaRPr lang="en-US" dirty="0" smtClean="0"/>
          </a:p>
          <a:p>
            <a:pPr lvl="1"/>
            <a:r>
              <a:rPr lang="pt-PT" u="sng" dirty="0" smtClean="0">
                <a:hlinkClick r:id="rId3" tooltip="An Async Premier"/>
              </a:rPr>
              <a:t>http://msdn.microsoft.com/vstudio/jj573641.aspx</a:t>
            </a:r>
            <a:endParaRPr lang="pt-PT" dirty="0" smtClean="0"/>
          </a:p>
          <a:p>
            <a:r>
              <a:rPr lang="en-US" dirty="0" err="1"/>
              <a:t>Eduasync</a:t>
            </a:r>
            <a:r>
              <a:rPr lang="en-US" dirty="0"/>
              <a:t> by Jon Skeet</a:t>
            </a:r>
          </a:p>
          <a:p>
            <a:pPr lvl="1"/>
            <a:r>
              <a:rPr lang="pt-PT" u="sng" dirty="0" smtClean="0">
                <a:hlinkClick r:id="rId4" tooltip="Eduasync by Jon Skeet"/>
              </a:rPr>
              <a:t>http://msmvps.com/blogs/jon_skeet/archive/tags/Eduasync/default.aspx</a:t>
            </a:r>
            <a:endParaRPr lang="pt-PT" dirty="0"/>
          </a:p>
          <a:p>
            <a:r>
              <a:rPr lang="pt-PT" dirty="0" smtClean="0"/>
              <a:t>Eric </a:t>
            </a:r>
            <a:r>
              <a:rPr lang="pt-PT" dirty="0" err="1"/>
              <a:t>Lippert's</a:t>
            </a:r>
            <a:r>
              <a:rPr lang="pt-PT" dirty="0"/>
              <a:t> Blog</a:t>
            </a:r>
            <a:endParaRPr lang="pt-PT" dirty="0" smtClean="0"/>
          </a:p>
          <a:p>
            <a:pPr lvl="1"/>
            <a:r>
              <a:rPr lang="pt-PT" u="sng" dirty="0" smtClean="0">
                <a:hlinkClick r:id="rId5" tooltip="Eric Lippert's Blog"/>
              </a:rPr>
              <a:t>http://blogs.msdn.com/b/ericlippert/</a:t>
            </a:r>
            <a:endParaRPr lang="pt-PT" u="sng" dirty="0" smtClean="0"/>
          </a:p>
          <a:p>
            <a:r>
              <a:rPr lang="pt-PT" dirty="0" err="1"/>
              <a:t>Lucian</a:t>
            </a:r>
            <a:r>
              <a:rPr lang="pt-PT" dirty="0"/>
              <a:t> </a:t>
            </a:r>
            <a:r>
              <a:rPr lang="pt-PT" dirty="0" err="1"/>
              <a:t>Wischik's</a:t>
            </a:r>
            <a:r>
              <a:rPr lang="pt-PT" dirty="0"/>
              <a:t> Blog</a:t>
            </a:r>
            <a:endParaRPr lang="pt-PT" dirty="0" smtClean="0"/>
          </a:p>
          <a:p>
            <a:pPr lvl="1"/>
            <a:r>
              <a:rPr lang="pt-PT" u="sng" dirty="0" smtClean="0">
                <a:hlinkClick r:id="rId6" tooltip="Lucian Wischik's Blog"/>
              </a:rPr>
              <a:t>http://blogs.msdn.com/b/lucian/archive/tags/async/</a:t>
            </a:r>
            <a:endParaRPr lang="pt-PT" u="sng" dirty="0" smtClean="0"/>
          </a:p>
          <a:p>
            <a:r>
              <a:rPr lang="pt-PT" dirty="0" err="1"/>
              <a:t>Parallel</a:t>
            </a:r>
            <a:r>
              <a:rPr lang="pt-PT" dirty="0"/>
              <a:t> </a:t>
            </a:r>
            <a:r>
              <a:rPr lang="pt-PT" dirty="0" err="1"/>
              <a:t>Programming</a:t>
            </a:r>
            <a:r>
              <a:rPr lang="pt-PT" dirty="0"/>
              <a:t> Team Blog</a:t>
            </a:r>
            <a:endParaRPr lang="pt-PT" dirty="0" smtClean="0"/>
          </a:p>
          <a:p>
            <a:pPr lvl="1"/>
            <a:r>
              <a:rPr lang="pt-BR" u="sng" dirty="0" smtClean="0">
                <a:hlinkClick r:id="rId7" tooltip="Parallel Programming Team Blog"/>
              </a:rPr>
              <a:t>http://blogs.msdn.com/b/pfxteam/archive/tags/async/</a:t>
            </a:r>
            <a:endParaRPr lang="pt-PT" dirty="0" smtClean="0"/>
          </a:p>
          <a:p>
            <a:pPr lvl="1"/>
            <a:endParaRPr lang="pt-PT" dirty="0" smtClean="0"/>
          </a:p>
          <a:p>
            <a:pPr lvl="1"/>
            <a:endParaRPr lang="pt-PT" dirty="0" smtClean="0"/>
          </a:p>
        </p:txBody>
      </p:sp>
    </p:spTree>
    <p:extLst>
      <p:ext uri="{BB962C8B-B14F-4D97-AF65-F5344CB8AC3E}">
        <p14:creationId xmlns:p14="http://schemas.microsoft.com/office/powerpoint/2010/main" val="35210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Resourceso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smtClean="0"/>
              <a:t>Paulo Morgado</a:t>
            </a:r>
          </a:p>
          <a:p>
            <a:pPr lvl="1"/>
            <a:r>
              <a:rPr lang="pt-PT" dirty="0" smtClean="0">
                <a:hlinkClick r:id="rId2"/>
              </a:rPr>
              <a:t>http://PauloMorgado.NET/</a:t>
            </a:r>
            <a:endParaRPr lang="pt-PT" dirty="0" smtClean="0"/>
          </a:p>
          <a:p>
            <a:pPr lvl="1"/>
            <a:r>
              <a:rPr lang="pt-PT" dirty="0">
                <a:hlinkClick r:id="rId3"/>
              </a:rPr>
              <a:t>http://</a:t>
            </a:r>
            <a:r>
              <a:rPr lang="pt-PT" dirty="0" smtClean="0">
                <a:hlinkClick r:id="rId3"/>
              </a:rPr>
              <a:t>mvp.support.microsoft.com/profile/Paulo.Morgado</a:t>
            </a:r>
            <a:endParaRPr lang="pt-PT" dirty="0" smtClean="0"/>
          </a:p>
          <a:p>
            <a:pPr lvl="1"/>
            <a:r>
              <a:rPr lang="pt-PT" dirty="0">
                <a:hlinkClick r:id="rId4"/>
              </a:rPr>
              <a:t>http://msmvps.com/blogs/paulomorgado</a:t>
            </a:r>
            <a:r>
              <a:rPr lang="pt-PT" dirty="0" smtClean="0">
                <a:hlinkClick r:id="rId4"/>
              </a:rPr>
              <a:t>/</a:t>
            </a:r>
            <a:endParaRPr lang="pt-PT" dirty="0" smtClean="0"/>
          </a:p>
          <a:p>
            <a:pPr lvl="1"/>
            <a:r>
              <a:rPr lang="pt-PT" dirty="0">
                <a:hlinkClick r:id="rId5"/>
              </a:rPr>
              <a:t>http://weblogs.asp.net/paulomorgado</a:t>
            </a:r>
            <a:r>
              <a:rPr lang="pt-PT" dirty="0" smtClean="0">
                <a:hlinkClick r:id="rId5"/>
              </a:rPr>
              <a:t>/</a:t>
            </a:r>
            <a:endParaRPr lang="pt-PT" dirty="0" smtClean="0"/>
          </a:p>
          <a:p>
            <a:pPr lvl="1"/>
            <a:r>
              <a:rPr lang="pt-PT" dirty="0">
                <a:hlinkClick r:id="rId6"/>
              </a:rPr>
              <a:t>http://pontonetpt.org/blogs/paulomorgado</a:t>
            </a:r>
            <a:r>
              <a:rPr lang="pt-PT" dirty="0" smtClean="0">
                <a:hlinkClick r:id="rId6"/>
              </a:rPr>
              <a:t>/</a:t>
            </a:r>
            <a:endParaRPr lang="pt-PT" dirty="0" smtClean="0"/>
          </a:p>
          <a:p>
            <a:pPr lvl="1"/>
            <a:r>
              <a:rPr lang="pt-PT" dirty="0">
                <a:hlinkClick r:id="rId7"/>
              </a:rPr>
              <a:t>http://</a:t>
            </a:r>
            <a:r>
              <a:rPr lang="pt-PT" dirty="0" smtClean="0">
                <a:hlinkClick r:id="rId7"/>
              </a:rPr>
              <a:t>www.codeproject.com/Members/PauloMorgado</a:t>
            </a:r>
            <a:endParaRPr lang="pt-PT" dirty="0" smtClean="0"/>
          </a:p>
          <a:p>
            <a:pPr lvl="1"/>
            <a:r>
              <a:rPr lang="pt-PT" dirty="0" smtClean="0">
                <a:hlinkClick r:id="rId8"/>
              </a:rPr>
              <a:t>http</a:t>
            </a:r>
            <a:r>
              <a:rPr lang="pt-PT" dirty="0">
                <a:hlinkClick r:id="rId8"/>
              </a:rPr>
              <a:t>://</a:t>
            </a:r>
            <a:r>
              <a:rPr lang="pt-PT" dirty="0" smtClean="0">
                <a:hlinkClick r:id="rId8"/>
              </a:rPr>
              <a:t>code.msdn.microsoft.com/site/search?f%5B0%5D.Type=User&amp;f%5B0%5D.Value=Paulo%20Morgado</a:t>
            </a:r>
            <a:endParaRPr lang="pt-PT" dirty="0" smtClean="0"/>
          </a:p>
          <a:p>
            <a:pPr lvl="1"/>
            <a:r>
              <a:rPr lang="pt-PT" dirty="0">
                <a:hlinkClick r:id="rId9"/>
              </a:rPr>
              <a:t>http://</a:t>
            </a:r>
            <a:r>
              <a:rPr lang="pt-PT" dirty="0" smtClean="0">
                <a:hlinkClick r:id="rId9"/>
              </a:rPr>
              <a:t>www.codeplex.com/UserAccount/UserProfile.aspx?UserName=PauloMorgado</a:t>
            </a:r>
            <a:endParaRPr lang="pt-PT" dirty="0" smtClean="0"/>
          </a:p>
          <a:p>
            <a:pPr lvl="1"/>
            <a:endParaRPr lang="pt-PT" dirty="0" smtClean="0"/>
          </a:p>
          <a:p>
            <a:pPr lvl="1"/>
            <a:endParaRPr lang="pt-PT" dirty="0" smtClean="0"/>
          </a:p>
        </p:txBody>
      </p:sp>
    </p:spTree>
    <p:extLst>
      <p:ext uri="{BB962C8B-B14F-4D97-AF65-F5344CB8AC3E}">
        <p14:creationId xmlns:p14="http://schemas.microsoft.com/office/powerpoint/2010/main" val="324990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Q &amp; A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0613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Thank</a:t>
            </a:r>
            <a:r>
              <a:rPr lang="pt-PT" dirty="0" smtClean="0"/>
              <a:t> </a:t>
            </a:r>
            <a:r>
              <a:rPr lang="pt-PT" dirty="0" err="1" smtClean="0"/>
              <a:t>You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75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4490</TotalTime>
  <Words>1711</Words>
  <Application>Microsoft Office PowerPoint</Application>
  <PresentationFormat>On-screen Show (4:3)</PresentationFormat>
  <Paragraphs>339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Consolas</vt:lpstr>
      <vt:lpstr>Segoe UI</vt:lpstr>
      <vt:lpstr>Segoe UI Light</vt:lpstr>
      <vt:lpstr>Times New Roman</vt:lpstr>
      <vt:lpstr>Tema do Office</vt:lpstr>
      <vt:lpstr>What’s New In C# 5.0?</vt:lpstr>
      <vt:lpstr>Who Am I?</vt:lpstr>
      <vt:lpstr>A Language For Each Generation</vt:lpstr>
      <vt:lpstr>The Evolution Of C#</vt:lpstr>
      <vt:lpstr>The Evolution Of C#</vt:lpstr>
      <vt:lpstr>Demo</vt:lpstr>
      <vt:lpstr>Introducing Async - Yesterday</vt:lpstr>
      <vt:lpstr>Introducing Async - Today</vt:lpstr>
      <vt:lpstr>Demo</vt:lpstr>
      <vt:lpstr>Introducing Async</vt:lpstr>
      <vt:lpstr>Explaining Async</vt:lpstr>
      <vt:lpstr>Demo</vt:lpstr>
      <vt:lpstr>Demo</vt:lpstr>
      <vt:lpstr>Demo</vt:lpstr>
      <vt:lpstr>Source Code Caller ID</vt:lpstr>
      <vt:lpstr>Source Code Caller ID</vt:lpstr>
      <vt:lpstr>Source Code Caller ID - Examples</vt:lpstr>
      <vt:lpstr>Source Code Caller ID - Examples</vt:lpstr>
      <vt:lpstr>Breaking Changes</vt:lpstr>
      <vt:lpstr>Breaking Changes</vt:lpstr>
      <vt:lpstr>Resources</vt:lpstr>
      <vt:lpstr>Resources</vt:lpstr>
      <vt:lpstr>Resources</vt:lpstr>
      <vt:lpstr>Resourceso</vt:lpstr>
      <vt:lpstr>Q &amp; A</vt:lpstr>
      <vt:lpstr>Thank You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Lima</dc:creator>
  <cp:lastModifiedBy>Paulo Morgado</cp:lastModifiedBy>
  <cp:revision>189</cp:revision>
  <dcterms:created xsi:type="dcterms:W3CDTF">2012-07-04T16:59:06Z</dcterms:created>
  <dcterms:modified xsi:type="dcterms:W3CDTF">2012-10-03T21:32:45Z</dcterms:modified>
</cp:coreProperties>
</file>